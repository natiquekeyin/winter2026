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1" r:id="rId13"/>
    <p:sldId id="267" r:id="rId14"/>
    <p:sldId id="268" r:id="rId15"/>
    <p:sldId id="269" r:id="rId16"/>
    <p:sldId id="292" r:id="rId17"/>
    <p:sldId id="271" r:id="rId18"/>
    <p:sldId id="272" r:id="rId19"/>
    <p:sldId id="273" r:id="rId20"/>
    <p:sldId id="275" r:id="rId21"/>
    <p:sldId id="270" r:id="rId22"/>
    <p:sldId id="274" r:id="rId23"/>
    <p:sldId id="276" r:id="rId24"/>
    <p:sldId id="277" r:id="rId25"/>
    <p:sldId id="278" r:id="rId26"/>
    <p:sldId id="280" r:id="rId27"/>
    <p:sldId id="27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/>
    <p:restoredTop sz="94518"/>
  </p:normalViewPr>
  <p:slideViewPr>
    <p:cSldViewPr snapToGrid="0">
      <p:cViewPr varScale="1">
        <p:scale>
          <a:sx n="59" d="100"/>
          <a:sy n="59" d="100"/>
        </p:scale>
        <p:origin x="10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an  Atique" userId="aab35d70-e8e0-4a76-8862-eddb3a1d4775" providerId="ADAL" clId="{D4AAC077-1EEA-4817-98ED-55C003801FB8}"/>
    <pc:docChg chg="custSel addSld modSld">
      <pc:chgData name="Noman  Atique" userId="aab35d70-e8e0-4a76-8862-eddb3a1d4775" providerId="ADAL" clId="{D4AAC077-1EEA-4817-98ED-55C003801FB8}" dt="2026-03-18T15:00:40.204" v="685" actId="207"/>
      <pc:docMkLst>
        <pc:docMk/>
      </pc:docMkLst>
      <pc:sldChg chg="modSp mod">
        <pc:chgData name="Noman  Atique" userId="aab35d70-e8e0-4a76-8862-eddb3a1d4775" providerId="ADAL" clId="{D4AAC077-1EEA-4817-98ED-55C003801FB8}" dt="2026-03-16T12:34:59.420" v="1" actId="13926"/>
        <pc:sldMkLst>
          <pc:docMk/>
          <pc:sldMk cId="3548744079" sldId="263"/>
        </pc:sldMkLst>
        <pc:spChg chg="mod">
          <ac:chgData name="Noman  Atique" userId="aab35d70-e8e0-4a76-8862-eddb3a1d4775" providerId="ADAL" clId="{D4AAC077-1EEA-4817-98ED-55C003801FB8}" dt="2026-03-16T12:34:59.420" v="1" actId="13926"/>
          <ac:spMkLst>
            <pc:docMk/>
            <pc:sldMk cId="3548744079" sldId="263"/>
            <ac:spMk id="3" creationId="{DF760530-83FD-9EDA-EDC2-1438F7761E26}"/>
          </ac:spMkLst>
        </pc:spChg>
      </pc:sldChg>
      <pc:sldChg chg="modSp mod">
        <pc:chgData name="Noman  Atique" userId="aab35d70-e8e0-4a76-8862-eddb3a1d4775" providerId="ADAL" clId="{D4AAC077-1EEA-4817-98ED-55C003801FB8}" dt="2026-03-16T13:23:01.025" v="66" actId="20577"/>
        <pc:sldMkLst>
          <pc:docMk/>
          <pc:sldMk cId="1085325407" sldId="267"/>
        </pc:sldMkLst>
        <pc:spChg chg="mod">
          <ac:chgData name="Noman  Atique" userId="aab35d70-e8e0-4a76-8862-eddb3a1d4775" providerId="ADAL" clId="{D4AAC077-1EEA-4817-98ED-55C003801FB8}" dt="2026-03-16T13:23:01.025" v="66" actId="20577"/>
          <ac:spMkLst>
            <pc:docMk/>
            <pc:sldMk cId="1085325407" sldId="267"/>
            <ac:spMk id="3" creationId="{8A47A6F7-72E4-A786-7E14-02CBCCF338FF}"/>
          </ac:spMkLst>
        </pc:spChg>
      </pc:sldChg>
      <pc:sldChg chg="modSp mod">
        <pc:chgData name="Noman  Atique" userId="aab35d70-e8e0-4a76-8862-eddb3a1d4775" providerId="ADAL" clId="{D4AAC077-1EEA-4817-98ED-55C003801FB8}" dt="2026-03-18T14:58:51.467" v="683" actId="207"/>
        <pc:sldMkLst>
          <pc:docMk/>
          <pc:sldMk cId="1655269223" sldId="271"/>
        </pc:sldMkLst>
        <pc:spChg chg="mod">
          <ac:chgData name="Noman  Atique" userId="aab35d70-e8e0-4a76-8862-eddb3a1d4775" providerId="ADAL" clId="{D4AAC077-1EEA-4817-98ED-55C003801FB8}" dt="2026-03-18T14:58:51.467" v="683" actId="207"/>
          <ac:spMkLst>
            <pc:docMk/>
            <pc:sldMk cId="1655269223" sldId="271"/>
            <ac:spMk id="3" creationId="{A94837B4-BEF3-229F-7C74-8B59A5E393DF}"/>
          </ac:spMkLst>
        </pc:spChg>
      </pc:sldChg>
      <pc:sldChg chg="modSp mod">
        <pc:chgData name="Noman  Atique" userId="aab35d70-e8e0-4a76-8862-eddb3a1d4775" providerId="ADAL" clId="{D4AAC077-1EEA-4817-98ED-55C003801FB8}" dt="2026-03-18T15:00:40.204" v="685" actId="207"/>
        <pc:sldMkLst>
          <pc:docMk/>
          <pc:sldMk cId="778149645" sldId="272"/>
        </pc:sldMkLst>
        <pc:spChg chg="mod">
          <ac:chgData name="Noman  Atique" userId="aab35d70-e8e0-4a76-8862-eddb3a1d4775" providerId="ADAL" clId="{D4AAC077-1EEA-4817-98ED-55C003801FB8}" dt="2026-03-18T15:00:40.204" v="685" actId="207"/>
          <ac:spMkLst>
            <pc:docMk/>
            <pc:sldMk cId="778149645" sldId="272"/>
            <ac:spMk id="3" creationId="{A84FE289-198F-16C4-9E78-FE756F340551}"/>
          </ac:spMkLst>
        </pc:spChg>
      </pc:sldChg>
      <pc:sldChg chg="modSp new mod">
        <pc:chgData name="Noman  Atique" userId="aab35d70-e8e0-4a76-8862-eddb3a1d4775" providerId="ADAL" clId="{D4AAC077-1EEA-4817-98ED-55C003801FB8}" dt="2026-03-17T15:05:42.541" v="682" actId="207"/>
        <pc:sldMkLst>
          <pc:docMk/>
          <pc:sldMk cId="3338331850" sldId="292"/>
        </pc:sldMkLst>
        <pc:spChg chg="mod">
          <ac:chgData name="Noman  Atique" userId="aab35d70-e8e0-4a76-8862-eddb3a1d4775" providerId="ADAL" clId="{D4AAC077-1EEA-4817-98ED-55C003801FB8}" dt="2026-03-17T14:58:57.894" v="114" actId="20577"/>
          <ac:spMkLst>
            <pc:docMk/>
            <pc:sldMk cId="3338331850" sldId="292"/>
            <ac:spMk id="2" creationId="{03DA5995-8AA9-6C72-E5F4-F0F38890A792}"/>
          </ac:spMkLst>
        </pc:spChg>
        <pc:spChg chg="mod">
          <ac:chgData name="Noman  Atique" userId="aab35d70-e8e0-4a76-8862-eddb3a1d4775" providerId="ADAL" clId="{D4AAC077-1EEA-4817-98ED-55C003801FB8}" dt="2026-03-17T15:05:42.541" v="682" actId="207"/>
          <ac:spMkLst>
            <pc:docMk/>
            <pc:sldMk cId="3338331850" sldId="292"/>
            <ac:spMk id="3" creationId="{64B03C5B-7CA8-3A5E-E691-ABEBC46E48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task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/>
              <a:t>Week 10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React JS!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Introduction to React! </a:t>
            </a:r>
          </a:p>
          <a:p>
            <a:pPr marL="457200" lvl="1" indent="0">
              <a:buNone/>
            </a:pPr>
            <a:r>
              <a:rPr lang="en-US" dirty="0"/>
              <a:t>	What is React JS?</a:t>
            </a:r>
          </a:p>
          <a:p>
            <a:pPr marL="457200" lvl="1" indent="0">
              <a:buNone/>
            </a:pPr>
            <a:r>
              <a:rPr lang="en-US" dirty="0"/>
              <a:t>	Why learn React JS?</a:t>
            </a:r>
          </a:p>
          <a:p>
            <a:pPr marL="457200" lvl="1" indent="0">
              <a:buNone/>
            </a:pPr>
            <a:r>
              <a:rPr lang="en-US" dirty="0"/>
              <a:t>Key Features of React</a:t>
            </a:r>
          </a:p>
          <a:p>
            <a:pPr marL="457200" lvl="1" indent="0">
              <a:buNone/>
            </a:pPr>
            <a:r>
              <a:rPr lang="en-US" dirty="0"/>
              <a:t>	Component-Based Architecture</a:t>
            </a:r>
          </a:p>
          <a:p>
            <a:pPr marL="457200" lvl="1" indent="0">
              <a:buNone/>
            </a:pPr>
            <a:r>
              <a:rPr lang="en-US" dirty="0"/>
              <a:t>	Virtual DOM</a:t>
            </a:r>
          </a:p>
          <a:p>
            <a:pPr marL="457200" lvl="1" indent="0">
              <a:buNone/>
            </a:pPr>
            <a:r>
              <a:rPr lang="en-US" dirty="0"/>
              <a:t>	Declarative UI</a:t>
            </a:r>
          </a:p>
          <a:p>
            <a:pPr marL="457200" lvl="1" indent="0">
              <a:buNone/>
            </a:pPr>
            <a:r>
              <a:rPr lang="en-US" dirty="0"/>
              <a:t>	JSX</a:t>
            </a:r>
          </a:p>
          <a:p>
            <a:pPr marL="457200" lvl="1" indent="0">
              <a:buNone/>
            </a:pPr>
            <a:r>
              <a:rPr lang="en-US" dirty="0"/>
              <a:t>Setting up a React application?</a:t>
            </a:r>
          </a:p>
          <a:p>
            <a:pPr marL="457200" lvl="1" indent="0">
              <a:buNone/>
            </a:pPr>
            <a:r>
              <a:rPr lang="en-US" dirty="0"/>
              <a:t>	Understanding the folder structure of React App!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F218-0A60-DFBB-CCA7-DDD7CA21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6CA58-02EE-3318-0C93-BF173CF9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What is React JS?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dirty="0"/>
              <a:t>	A front-end JS library to create intuitive, responsive UIs.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	</a:t>
            </a:r>
            <a:r>
              <a:rPr lang="fr-FR" dirty="0"/>
              <a:t>HTML, CSS, JavaScript - </a:t>
            </a:r>
            <a:r>
              <a:rPr lang="fr-FR" dirty="0" err="1"/>
              <a:t>front-end</a:t>
            </a:r>
            <a:r>
              <a:rPr lang="fr-FR" dirty="0"/>
              <a:t> technologies! –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discussed</a:t>
            </a:r>
            <a:r>
              <a:rPr lang="fr-FR" dirty="0"/>
              <a:t>!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6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B93C-2E2F-3E4F-5D08-BEE961A8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React 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4F69-1133-0C4D-1F9E-4E3349BC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When we have already learned HTML, CSS &amp; JS, why should we learn it???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“UI becomes difficult to manage with Vanila JavaScript...”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Motivation#1: React will make UI so easy and intuitive with minimal effort!</a:t>
            </a:r>
          </a:p>
          <a:p>
            <a:pPr marL="0" indent="0">
              <a:buNone/>
            </a:pPr>
            <a:r>
              <a:rPr lang="en-US" dirty="0"/>
              <a:t>Motivation#2: Google current jobs for React Developers!</a:t>
            </a:r>
          </a:p>
          <a:p>
            <a:pPr marL="0" indent="0">
              <a:buNone/>
            </a:pPr>
            <a:r>
              <a:rPr lang="en-US" dirty="0"/>
              <a:t>Motivation#3: Huge community backing – why is it important?</a:t>
            </a:r>
          </a:p>
          <a:p>
            <a:pPr marL="0" indent="0">
              <a:buNone/>
            </a:pPr>
            <a:r>
              <a:rPr lang="en-US" dirty="0"/>
              <a:t>Motivation#4: MEAN &amp; ME</a:t>
            </a:r>
            <a:r>
              <a:rPr lang="en-US" dirty="0">
                <a:solidFill>
                  <a:srgbClr val="FFFF00"/>
                </a:solidFill>
              </a:rPr>
              <a:t>R</a:t>
            </a:r>
            <a:r>
              <a:rPr lang="en-US" dirty="0"/>
              <a:t>N – MongoDB, Express JS , </a:t>
            </a:r>
            <a:r>
              <a:rPr lang="en-US" dirty="0">
                <a:solidFill>
                  <a:srgbClr val="FFFF00"/>
                </a:solidFill>
              </a:rPr>
              <a:t>React</a:t>
            </a:r>
            <a:r>
              <a:rPr lang="en-US" dirty="0"/>
              <a:t>/Angular JS, Node JS – </a:t>
            </a:r>
            <a:r>
              <a:rPr lang="en-US" dirty="0">
                <a:solidFill>
                  <a:srgbClr val="FFFF00"/>
                </a:solidFill>
              </a:rPr>
              <a:t>Full Stack Developer!</a:t>
            </a:r>
          </a:p>
          <a:p>
            <a:pPr marL="0" indent="0">
              <a:buNone/>
            </a:pPr>
            <a:r>
              <a:rPr lang="en-US" dirty="0"/>
              <a:t>Motivation#5: SPA (Single Page Applications) [Most important selling feature of react]</a:t>
            </a:r>
          </a:p>
        </p:txBody>
      </p:sp>
    </p:spTree>
    <p:extLst>
      <p:ext uri="{BB962C8B-B14F-4D97-AF65-F5344CB8AC3E}">
        <p14:creationId xmlns:p14="http://schemas.microsoft.com/office/powerpoint/2010/main" val="341516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8BE6-23ED-2BBE-AED8-E6961C00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3AD56-A084-09F1-7B8C-DBDA782D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Component</a:t>
            </a:r>
            <a:r>
              <a:rPr lang="en-US" dirty="0"/>
              <a:t>-Based Architecture</a:t>
            </a:r>
          </a:p>
          <a:p>
            <a:pPr lvl="1"/>
            <a:r>
              <a:rPr lang="en-US" dirty="0"/>
              <a:t>Build encapsulated components that manage their own </a:t>
            </a:r>
            <a:r>
              <a:rPr lang="en-US" dirty="0">
                <a:solidFill>
                  <a:srgbClr val="FFFF00"/>
                </a:solidFill>
              </a:rPr>
              <a:t>state</a:t>
            </a:r>
          </a:p>
          <a:p>
            <a:pPr lvl="1"/>
            <a:r>
              <a:rPr lang="en-US" dirty="0"/>
              <a:t>Let’s google some React based sites, and explore this point - Netflix, </a:t>
            </a:r>
            <a:r>
              <a:rPr lang="en-US" dirty="0" err="1"/>
              <a:t>udemy</a:t>
            </a:r>
            <a:endParaRPr lang="en-US" dirty="0"/>
          </a:p>
          <a:p>
            <a:r>
              <a:rPr lang="en-US" dirty="0"/>
              <a:t>Virtual DOM</a:t>
            </a:r>
          </a:p>
          <a:p>
            <a:pPr lvl="1"/>
            <a:r>
              <a:rPr lang="en-US" dirty="0"/>
              <a:t>Optimized rendering process to enhance app performance</a:t>
            </a:r>
          </a:p>
          <a:p>
            <a:r>
              <a:rPr lang="en-US" dirty="0"/>
              <a:t>Declarative UI</a:t>
            </a:r>
          </a:p>
          <a:p>
            <a:pPr lvl="1"/>
            <a:r>
              <a:rPr lang="en-US" dirty="0"/>
              <a:t>Simplifies coding by focusing on “what” instead of “how” for UI rendering!</a:t>
            </a:r>
          </a:p>
          <a:p>
            <a:r>
              <a:rPr lang="en-US" dirty="0"/>
              <a:t>JSX (</a:t>
            </a:r>
            <a:r>
              <a:rPr lang="en-US" dirty="0">
                <a:solidFill>
                  <a:srgbClr val="FFFF00"/>
                </a:solidFill>
              </a:rPr>
              <a:t>J</a:t>
            </a:r>
            <a:r>
              <a:rPr lang="en-US" dirty="0"/>
              <a:t>ava</a:t>
            </a:r>
            <a:r>
              <a:rPr lang="en-US" dirty="0">
                <a:solidFill>
                  <a:srgbClr val="FFFF00"/>
                </a:solidFill>
              </a:rPr>
              <a:t>S</a:t>
            </a:r>
            <a:r>
              <a:rPr lang="en-US" dirty="0"/>
              <a:t>cript </a:t>
            </a:r>
            <a:r>
              <a:rPr lang="en-US" dirty="0" err="1"/>
              <a:t>e</a:t>
            </a:r>
            <a:r>
              <a:rPr lang="en-US" dirty="0" err="1">
                <a:solidFill>
                  <a:srgbClr val="FFFF00"/>
                </a:solidFill>
              </a:rPr>
              <a:t>X</a:t>
            </a:r>
            <a:r>
              <a:rPr lang="en-US" dirty="0" err="1"/>
              <a:t>pression</a:t>
            </a:r>
            <a:r>
              <a:rPr lang="en-US" dirty="0"/>
              <a:t>)[Combination of HTML,CSS &amp; JS]</a:t>
            </a:r>
          </a:p>
          <a:p>
            <a:pPr lvl="1"/>
            <a:r>
              <a:rPr lang="en-US" dirty="0"/>
              <a:t>HTML-like syntax within JavaScript! – It is ALWAYS the return from every component(Every component returns JSX).</a:t>
            </a:r>
          </a:p>
        </p:txBody>
      </p:sp>
    </p:spTree>
    <p:extLst>
      <p:ext uri="{BB962C8B-B14F-4D97-AF65-F5344CB8AC3E}">
        <p14:creationId xmlns:p14="http://schemas.microsoft.com/office/powerpoint/2010/main" val="279205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0CDE-0A77-681A-A4DE-3B6D538B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Setting Up a React Project!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2506-8CD9-5D38-C88C-0ED7AC77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r>
              <a:rPr lang="en-US">
                <a:sym typeface="Wingdings" panose="05000000000000000000" pitchFamily="2" charset="2"/>
              </a:rPr>
              <a:t>The Command: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 err="1">
                <a:sym typeface="Wingdings" panose="05000000000000000000" pitchFamily="2" charset="2"/>
              </a:rPr>
              <a:t>npm</a:t>
            </a:r>
            <a:r>
              <a:rPr lang="en-US" dirty="0">
                <a:sym typeface="Wingdings" panose="05000000000000000000" pitchFamily="2" charset="2"/>
              </a:rPr>
              <a:t> create </a:t>
            </a:r>
            <a:r>
              <a:rPr lang="en-US" dirty="0" err="1">
                <a:sym typeface="Wingdings" panose="05000000000000000000" pitchFamily="2" charset="2"/>
              </a:rPr>
              <a:t>vite@latest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firstapp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[Recommended now]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61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8C64-9E70-81D1-DF8D-7210EA89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the folder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3ADB-BF91-C727-267A-0FF88F76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src</a:t>
            </a:r>
            <a:r>
              <a:rPr lang="en-US" dirty="0"/>
              <a:t> for components!</a:t>
            </a:r>
          </a:p>
          <a:p>
            <a:pPr marL="0" indent="0">
              <a:buNone/>
            </a:pPr>
            <a:r>
              <a:rPr lang="en-US" dirty="0"/>
              <a:t>public for static files!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it’s not the end!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package.json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configuration file which holds all the important information 	about our project! What to install to make it run on the other 	side etc.</a:t>
            </a:r>
          </a:p>
          <a:p>
            <a:pPr marL="0" indent="0">
              <a:buNone/>
            </a:pPr>
            <a:r>
              <a:rPr lang="en-US" dirty="0" err="1"/>
              <a:t>node_modules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Collection of all the libraries/</a:t>
            </a:r>
            <a:r>
              <a:rPr lang="en-US" dirty="0" err="1"/>
              <a:t>etc</a:t>
            </a:r>
            <a:r>
              <a:rPr lang="en-US" dirty="0"/>
              <a:t> environment required to run the project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7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6E31-6CC1-9E3A-1283-05FA2FC7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Very Important Information!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0530-83FD-9EDA-EDC2-1438F776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Never send “</a:t>
            </a:r>
            <a:r>
              <a:rPr lang="en-US" b="1" dirty="0" err="1">
                <a:solidFill>
                  <a:srgbClr val="FF0000"/>
                </a:solidFill>
              </a:rPr>
              <a:t>node_modules</a:t>
            </a:r>
            <a:r>
              <a:rPr lang="en-US" b="1" dirty="0">
                <a:solidFill>
                  <a:srgbClr val="FF0000"/>
                </a:solidFill>
              </a:rPr>
              <a:t>” while sending your project – even </a:t>
            </a:r>
            <a:r>
              <a:rPr lang="en-US" b="1" dirty="0" err="1">
                <a:solidFill>
                  <a:srgbClr val="FF0000"/>
                </a:solidFill>
              </a:rPr>
              <a:t>github</a:t>
            </a:r>
            <a:r>
              <a:rPr lang="en-US" b="1" dirty="0">
                <a:solidFill>
                  <a:srgbClr val="FF0000"/>
                </a:solidFill>
              </a:rPr>
              <a:t> ignores it anyhow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1. Always delete “</a:t>
            </a:r>
            <a:r>
              <a:rPr lang="en-US" dirty="0" err="1">
                <a:sym typeface="Wingdings" panose="05000000000000000000" pitchFamily="2" charset="2"/>
              </a:rPr>
              <a:t>node_modules</a:t>
            </a:r>
            <a:r>
              <a:rPr lang="en-US" dirty="0">
                <a:sym typeface="Wingdings" panose="05000000000000000000" pitchFamily="2" charset="2"/>
              </a:rPr>
              <a:t>” folder before submitting it!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Always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send your “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package.json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” file, I will run “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npm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 install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” and will get the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node_modules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folder here! </a:t>
            </a:r>
            <a:r>
              <a:rPr 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Please remember 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4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8EAC-6E8E-2857-35B4-A47C9737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explore more about folder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034B-A7C2-214B-2EEA-C14D9D66D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“index.html”   - SPA (Remember?)</a:t>
            </a:r>
          </a:p>
          <a:p>
            <a:pPr lvl="1"/>
            <a:r>
              <a:rPr lang="en-US" dirty="0"/>
              <a:t>Contains a &lt;div&gt; with id root 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main.jsx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r>
              <a:rPr lang="en-US" dirty="0"/>
              <a:t> All important middle man!</a:t>
            </a:r>
          </a:p>
          <a:p>
            <a:pPr lvl="1"/>
            <a:r>
              <a:rPr lang="en-US" dirty="0"/>
              <a:t>That accesses that id root div from index.html and runs the </a:t>
            </a:r>
            <a:r>
              <a:rPr lang="en-US" dirty="0" err="1"/>
              <a:t>App.jsx</a:t>
            </a:r>
            <a:r>
              <a:rPr lang="en-US" dirty="0"/>
              <a:t> here</a:t>
            </a:r>
          </a:p>
          <a:p>
            <a:r>
              <a:rPr lang="en-US" dirty="0"/>
              <a:t>“</a:t>
            </a:r>
            <a:r>
              <a:rPr lang="en-US" dirty="0" err="1"/>
              <a:t>App.jsx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 the component that </a:t>
            </a:r>
            <a:r>
              <a:rPr lang="en-US" dirty="0" err="1"/>
              <a:t>main.jsx</a:t>
            </a:r>
            <a:r>
              <a:rPr lang="en-US" dirty="0"/>
              <a:t> runs inside “index.html”</a:t>
            </a:r>
          </a:p>
          <a:p>
            <a:pPr lvl="2"/>
            <a:r>
              <a:rPr lang="en-US" dirty="0"/>
              <a:t>Confusing???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2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8507-84C2-3F73-CC3B-75DC5FCA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</a:t>
            </a:r>
            <a:r>
              <a:rPr lang="en-US" err="1"/>
              <a:t>App.jsx</a:t>
            </a:r>
            <a:r>
              <a:rPr lang="en-US"/>
              <a:t> after all!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1D614-B7B3-BCA6-DDB3-97C0B54D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the main component of React Application!-All rest of the components will be accessed by this App component…</a:t>
            </a:r>
          </a:p>
          <a:p>
            <a:endParaRPr lang="en-US" dirty="0"/>
          </a:p>
          <a:p>
            <a:r>
              <a:rPr lang="en-US" dirty="0"/>
              <a:t>All react components are like “functions”, with the difference being the components return “JSX”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Million-dollar question! What is JSX?</a:t>
            </a:r>
          </a:p>
        </p:txBody>
      </p:sp>
    </p:spTree>
    <p:extLst>
      <p:ext uri="{BB962C8B-B14F-4D97-AF65-F5344CB8AC3E}">
        <p14:creationId xmlns:p14="http://schemas.microsoft.com/office/powerpoint/2010/main" val="2238231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ACF8-57E2-B70D-C85D-107F6074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3028-293D-51C4-8CCA-3150FD02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combination of HTML, CSS and JS.</a:t>
            </a:r>
          </a:p>
          <a:p>
            <a:endParaRPr lang="en-US" dirty="0"/>
          </a:p>
          <a:p>
            <a:r>
              <a:rPr lang="en-US" dirty="0"/>
              <a:t>{ } </a:t>
            </a:r>
            <a:r>
              <a:rPr lang="en-US" dirty="0" err="1"/>
              <a:t>javascript</a:t>
            </a:r>
            <a:r>
              <a:rPr lang="en-US" dirty="0"/>
              <a:t> expression box where we can write literally any </a:t>
            </a:r>
            <a:r>
              <a:rPr lang="en-US" dirty="0" err="1"/>
              <a:t>javascript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So as mentioned, every component returns "JSX" that is boiled down to HTML when it goes to index.html</a:t>
            </a:r>
          </a:p>
          <a:p>
            <a:r>
              <a:rPr lang="en-US" dirty="0"/>
              <a:t>&lt;&gt; &lt;/&gt;.. They are called “fragments in react”. They do not produce any code by themselves!!!!</a:t>
            </a:r>
          </a:p>
        </p:txBody>
      </p:sp>
    </p:spTree>
    <p:extLst>
      <p:ext uri="{BB962C8B-B14F-4D97-AF65-F5344CB8AC3E}">
        <p14:creationId xmlns:p14="http://schemas.microsoft.com/office/powerpoint/2010/main" val="289888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B9BB-D657-B5ED-7415-D5883C6B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our own Components??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F582-8110-4939-F6FA-92CA62578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folder inside “</a:t>
            </a:r>
            <a:r>
              <a:rPr lang="en-US" dirty="0" err="1"/>
              <a:t>Src</a:t>
            </a:r>
            <a:r>
              <a:rPr lang="en-US" dirty="0"/>
              <a:t>” called components</a:t>
            </a:r>
          </a:p>
          <a:p>
            <a:endParaRPr lang="en-US" dirty="0"/>
          </a:p>
          <a:p>
            <a:r>
              <a:rPr lang="en-US" dirty="0"/>
              <a:t>And create a new component inside it…</a:t>
            </a:r>
          </a:p>
          <a:p>
            <a:endParaRPr lang="en-US" dirty="0"/>
          </a:p>
          <a:p>
            <a:r>
              <a:rPr lang="en-US" dirty="0"/>
              <a:t>Export that component..</a:t>
            </a:r>
          </a:p>
          <a:p>
            <a:endParaRPr lang="en-US" dirty="0"/>
          </a:p>
          <a:p>
            <a:r>
              <a:rPr lang="en-US" dirty="0"/>
              <a:t>Import it in </a:t>
            </a:r>
            <a:r>
              <a:rPr lang="en-US" dirty="0" err="1"/>
              <a:t>App.jsx</a:t>
            </a:r>
            <a:r>
              <a:rPr lang="en-US" dirty="0"/>
              <a:t> and then Call it in the </a:t>
            </a:r>
            <a:r>
              <a:rPr lang="en-US" dirty="0" err="1"/>
              <a:t>jsx</a:t>
            </a:r>
            <a:r>
              <a:rPr lang="en-US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18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7E05-B921-0E1C-418B-E2FBED9C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 (properties):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A6F7-72E4-A786-7E14-02CBCCF33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props to the components are LIKE parameters to the functions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We pass them while calling the component and receive them in called component....</a:t>
            </a:r>
          </a:p>
          <a:p>
            <a:endParaRPr lang="en-US" dirty="0"/>
          </a:p>
          <a:p>
            <a:r>
              <a:rPr lang="en-US" dirty="0" err="1"/>
              <a:t>Destructuring</a:t>
            </a:r>
            <a:r>
              <a:rPr lang="en-US" dirty="0"/>
              <a:t> of props:</a:t>
            </a:r>
          </a:p>
          <a:p>
            <a:r>
              <a:rPr lang="en-US" dirty="0"/>
              <a:t>let title = </a:t>
            </a:r>
            <a:r>
              <a:rPr lang="en-US" dirty="0" err="1"/>
              <a:t>props.title</a:t>
            </a:r>
            <a:r>
              <a:rPr lang="en-US" dirty="0"/>
              <a:t>;</a:t>
            </a:r>
          </a:p>
          <a:p>
            <a:r>
              <a:rPr lang="en-US" dirty="0"/>
              <a:t>let text = </a:t>
            </a:r>
            <a:r>
              <a:rPr lang="en-US" dirty="0" err="1"/>
              <a:t>props.text</a:t>
            </a:r>
            <a:r>
              <a:rPr lang="en-US" dirty="0"/>
              <a:t>;</a:t>
            </a:r>
          </a:p>
          <a:p>
            <a:r>
              <a:rPr lang="en-US" dirty="0"/>
              <a:t>let {title, text} = props;</a:t>
            </a:r>
          </a:p>
          <a:p>
            <a:r>
              <a:rPr lang="en-US" dirty="0"/>
              <a:t>Directly </a:t>
            </a:r>
            <a:r>
              <a:rPr lang="en-US" dirty="0" err="1"/>
              <a:t>destructure</a:t>
            </a:r>
            <a:r>
              <a:rPr lang="en-US" dirty="0"/>
              <a:t> in the parameters of component function: 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function Header({</a:t>
            </a:r>
            <a:r>
              <a:rPr lang="en-US" dirty="0" err="1">
                <a:solidFill>
                  <a:srgbClr val="FFFF00"/>
                </a:solidFill>
              </a:rPr>
              <a:t>title,text</a:t>
            </a:r>
            <a:r>
              <a:rPr lang="en-US" dirty="0">
                <a:solidFill>
                  <a:srgbClr val="FFFF00"/>
                </a:solidFill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08532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62BE-6309-CAEC-B0FE-5991E112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make our coding a bit spicy!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0C26-4D71-7CB5-8373-CDFA2581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the extension for “</a:t>
            </a:r>
            <a:r>
              <a:rPr lang="en-US" err="1"/>
              <a:t>rafce</a:t>
            </a:r>
            <a:r>
              <a:rPr lang="en-US"/>
              <a:t>”  or “</a:t>
            </a:r>
            <a:r>
              <a:rPr lang="en-US" err="1"/>
              <a:t>rfce</a:t>
            </a:r>
            <a:r>
              <a:rPr lang="en-US"/>
              <a:t>” etc.</a:t>
            </a:r>
          </a:p>
          <a:p>
            <a:endParaRPr lang="en-US"/>
          </a:p>
          <a:p>
            <a:r>
              <a:rPr lang="en-US"/>
              <a:t>And now let’s make our own components and call and use them in our application!</a:t>
            </a:r>
          </a:p>
        </p:txBody>
      </p:sp>
    </p:spTree>
    <p:extLst>
      <p:ext uri="{BB962C8B-B14F-4D97-AF65-F5344CB8AC3E}">
        <p14:creationId xmlns:p14="http://schemas.microsoft.com/office/powerpoint/2010/main" val="109394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D9F0-9D17-4AB4-D446-B7721242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4222C-4C2F-DF47-DE49-9D0113C0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Events can be used in components.</a:t>
            </a:r>
          </a:p>
          <a:p>
            <a:endParaRPr lang="en-US" dirty="0"/>
          </a:p>
          <a:p>
            <a:r>
              <a:rPr lang="en-US" dirty="0"/>
              <a:t>We can send events as props too from one component to other.</a:t>
            </a:r>
          </a:p>
          <a:p>
            <a:endParaRPr lang="en-US" dirty="0"/>
          </a:p>
          <a:p>
            <a:r>
              <a:rPr lang="en-US" dirty="0"/>
              <a:t>We will discuss events in detail during the project – and will make some cool fun events.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67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5995-8AA9-6C72-E5F4-F0F38890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define the event in “</a:t>
            </a:r>
            <a:r>
              <a:rPr lang="en-US" dirty="0" err="1"/>
              <a:t>App.jsx</a:t>
            </a:r>
            <a:r>
              <a:rPr lang="en-US" dirty="0"/>
              <a:t>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3C5B-7CA8-3A5E-E691-ABEBC46E4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Actually we want most of the objects (functions, variables </a:t>
            </a:r>
            <a:r>
              <a:rPr lang="en-US" dirty="0" err="1"/>
              <a:t>etc</a:t>
            </a:r>
            <a:r>
              <a:rPr lang="en-US" dirty="0"/>
              <a:t>) to be </a:t>
            </a:r>
            <a:r>
              <a:rPr lang="en-US" dirty="0">
                <a:solidFill>
                  <a:srgbClr val="FFFF00"/>
                </a:solidFill>
              </a:rPr>
              <a:t>GLOBAL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That is why we usually set them in </a:t>
            </a:r>
            <a:r>
              <a:rPr lang="en-US" dirty="0" err="1"/>
              <a:t>App.jsx</a:t>
            </a:r>
            <a:r>
              <a:rPr lang="en-US" dirty="0"/>
              <a:t> and then from there onwards we send them to respective components as “</a:t>
            </a:r>
            <a:r>
              <a:rPr lang="en-US" dirty="0" err="1"/>
              <a:t>props”,and</a:t>
            </a:r>
            <a:r>
              <a:rPr lang="en-US" dirty="0"/>
              <a:t> there we use them BUT they exist in </a:t>
            </a:r>
            <a:r>
              <a:rPr lang="en-US" dirty="0" err="1"/>
              <a:t>App.jsx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“Context API” enables us NOT TO define EVERYTHING in app and then send it to the components, rather through redux, we can define the </a:t>
            </a:r>
            <a:r>
              <a:rPr lang="en-US" dirty="0">
                <a:solidFill>
                  <a:srgbClr val="FFFF00"/>
                </a:solidFill>
              </a:rPr>
              <a:t>respective events, variables and </a:t>
            </a:r>
            <a:r>
              <a:rPr lang="en-US" dirty="0" err="1">
                <a:solidFill>
                  <a:srgbClr val="FFFF00"/>
                </a:solidFill>
              </a:rPr>
              <a:t>etc</a:t>
            </a:r>
            <a:r>
              <a:rPr lang="en-US" dirty="0">
                <a:solidFill>
                  <a:srgbClr val="FFFF00"/>
                </a:solidFill>
              </a:rPr>
              <a:t> in THE COMPONENTS..</a:t>
            </a:r>
          </a:p>
        </p:txBody>
      </p:sp>
    </p:spTree>
    <p:extLst>
      <p:ext uri="{BB962C8B-B14F-4D97-AF65-F5344CB8AC3E}">
        <p14:creationId xmlns:p14="http://schemas.microsoft.com/office/powerpoint/2010/main" val="3338331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DBE0-6933-B589-3B10-75AB7E49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management in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37B4-BEF3-229F-7C74-8B59A5E39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In React, </a:t>
            </a:r>
            <a:r>
              <a:rPr lang="en-CA" b="1" dirty="0"/>
              <a:t>state</a:t>
            </a:r>
            <a:r>
              <a:rPr lang="en-CA" dirty="0"/>
              <a:t> refers to an object that holds data or information about a component, determining how it renders and behaves.</a:t>
            </a:r>
          </a:p>
          <a:p>
            <a:endParaRPr lang="en-CA" dirty="0"/>
          </a:p>
          <a:p>
            <a:r>
              <a:rPr lang="en-CA" dirty="0"/>
              <a:t>Each component can have its own state, which is stored internally and can be updated over time. </a:t>
            </a:r>
          </a:p>
          <a:p>
            <a:endParaRPr lang="en-CA" dirty="0"/>
          </a:p>
          <a:p>
            <a:r>
              <a:rPr lang="en-CA" dirty="0"/>
              <a:t>State is essential for making React applications interactive and dynamic, as it allows components to respond to user inputs, changes in data, or other </a:t>
            </a:r>
            <a:r>
              <a:rPr lang="en-CA" dirty="0">
                <a:solidFill>
                  <a:srgbClr val="FFFF00"/>
                </a:solidFill>
              </a:rPr>
              <a:t>events by re-rendering the UI with new data. </a:t>
            </a:r>
            <a:r>
              <a:rPr lang="en-CA" dirty="0"/>
              <a:t>(Remember our balls project in vanilla JavaScript?)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6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C2E2-12DF-A379-6CDD-CD87F9C3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 about state in React!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E289-198F-16C4-9E78-FE756F34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b="1" dirty="0"/>
              <a:t>Managed Locally</a:t>
            </a:r>
            <a:r>
              <a:rPr lang="en-CA" dirty="0"/>
              <a:t>: State is managed within a component and does not directly affect other components unless </a:t>
            </a:r>
            <a:r>
              <a:rPr lang="en-CA" dirty="0">
                <a:solidFill>
                  <a:srgbClr val="FFFF00"/>
                </a:solidFill>
              </a:rPr>
              <a:t>passed as props.</a:t>
            </a:r>
          </a:p>
          <a:p>
            <a:endParaRPr lang="en-CA" dirty="0"/>
          </a:p>
          <a:p>
            <a:r>
              <a:rPr lang="en-CA" b="1" dirty="0"/>
              <a:t>Reactivity</a:t>
            </a:r>
            <a:r>
              <a:rPr lang="en-CA" dirty="0"/>
              <a:t>: When state changes, </a:t>
            </a:r>
            <a:r>
              <a:rPr lang="en-CA" dirty="0">
                <a:solidFill>
                  <a:srgbClr val="FF0000"/>
                </a:solidFill>
              </a:rPr>
              <a:t>React re-renders the component automatically to reflect the new data</a:t>
            </a:r>
            <a:r>
              <a:rPr lang="en-CA" dirty="0"/>
              <a:t>.[</a:t>
            </a:r>
            <a:r>
              <a:rPr lang="en-CA" dirty="0">
                <a:solidFill>
                  <a:srgbClr val="FFFF00"/>
                </a:solidFill>
              </a:rPr>
              <a:t>Re-rendering and http request</a:t>
            </a:r>
            <a:r>
              <a:rPr lang="en-CA" dirty="0"/>
              <a:t>]</a:t>
            </a:r>
          </a:p>
          <a:p>
            <a:endParaRPr lang="en-CA" dirty="0"/>
          </a:p>
          <a:p>
            <a:r>
              <a:rPr lang="en-CA" b="1" dirty="0"/>
              <a:t>Initialization and Update</a:t>
            </a:r>
            <a:r>
              <a:rPr lang="en-CA" dirty="0"/>
              <a:t>: State can be initialized when a component mounts and updated using functions like the </a:t>
            </a:r>
            <a:r>
              <a:rPr lang="en-CA" dirty="0" err="1"/>
              <a:t>useState</a:t>
            </a:r>
            <a:r>
              <a:rPr lang="en-CA" dirty="0"/>
              <a:t> Hook in functional components.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49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9461-6AD4-531F-7F1F-C4A1B889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EC7AB8-E29F-DF7A-0F61-92F896779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357" y="1684000"/>
            <a:ext cx="9270093" cy="42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7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8004-448B-6846-F66E-D87AF961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state Differs from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89A7-67C1-B1E0-6FC0-406269BD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State</a:t>
            </a:r>
            <a:r>
              <a:rPr lang="en-CA"/>
              <a:t>: Internal to the component and can be modified by the component itself.[Global variable]</a:t>
            </a:r>
          </a:p>
          <a:p>
            <a:endParaRPr lang="en-CA" b="1"/>
          </a:p>
          <a:p>
            <a:r>
              <a:rPr lang="en-CA" b="1"/>
              <a:t>Props</a:t>
            </a:r>
            <a:r>
              <a:rPr lang="en-CA"/>
              <a:t>: Passed down from parent components and cannot be modified by the child component.[Local variable]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70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D391-40B5-1847-CB50-A8F3B28F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Hooks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C242-5C07-84F5-CFE8-DB094A62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/>
              <a:t>React Hooks are special functions that allow components to access features like state management and lifecycle events. </a:t>
            </a:r>
          </a:p>
          <a:p>
            <a:endParaRPr lang="en-CA"/>
          </a:p>
          <a:p>
            <a:r>
              <a:rPr lang="en-CA"/>
              <a:t>They let you use state and other React functionalities directly within functional components, enhancing functionality and enabling component-level logic to be shared and reused. </a:t>
            </a:r>
          </a:p>
          <a:p>
            <a:endParaRPr lang="en-CA"/>
          </a:p>
          <a:p>
            <a:r>
              <a:rPr lang="en-CA"/>
              <a:t>Hooks are a foundational aspect of React, bringing stateful behavior and lifecycle capabilities to functional components, which were previously limited to class components.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8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685C-2A9B-4387-445B-0E6D31ED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useState</a:t>
            </a:r>
            <a:r>
              <a:rPr lang="en-US"/>
              <a:t>( ) Hook: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9FF74-5047-DDF0-D79C-3AB86BE6B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The </a:t>
            </a:r>
            <a:r>
              <a:rPr lang="en-CA" err="1"/>
              <a:t>useState</a:t>
            </a:r>
            <a:r>
              <a:rPr lang="en-CA"/>
              <a:t> Hook in React is a fundamental Hook that lets you add state to functional components. </a:t>
            </a:r>
          </a:p>
          <a:p>
            <a:endParaRPr lang="en-CA"/>
          </a:p>
          <a:p>
            <a:r>
              <a:rPr lang="en-CA"/>
              <a:t>It allows you to declare a state variable and a function to update that state, enabling your component to manage and respond to data changes.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34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3EF1-3CF2-5908-7909-6C0049C7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CB64-7FF2-A757-63A1-ECDC4FE5C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const [state, </a:t>
            </a:r>
            <a:r>
              <a:rPr lang="en-CA" err="1"/>
              <a:t>setState</a:t>
            </a:r>
            <a:r>
              <a:rPr lang="en-CA"/>
              <a:t>] = </a:t>
            </a:r>
            <a:r>
              <a:rPr lang="en-CA" err="1"/>
              <a:t>useState</a:t>
            </a:r>
            <a:r>
              <a:rPr lang="en-CA"/>
              <a:t>(</a:t>
            </a:r>
            <a:r>
              <a:rPr lang="en-CA" err="1"/>
              <a:t>initialValue</a:t>
            </a:r>
            <a:r>
              <a:rPr lang="en-CA"/>
              <a:t>);</a:t>
            </a:r>
          </a:p>
          <a:p>
            <a:pPr marL="0" indent="0">
              <a:buNone/>
            </a:pPr>
            <a:endParaRPr lang="en-CA"/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state</a:t>
            </a:r>
            <a:r>
              <a:rPr lang="en-CA"/>
              <a:t>: The current state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err="1"/>
              <a:t>setState</a:t>
            </a:r>
            <a:r>
              <a:rPr lang="en-CA"/>
              <a:t>: A function that updates the state value and re-renders the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err="1"/>
              <a:t>initialValue</a:t>
            </a:r>
            <a:r>
              <a:rPr lang="en-CA"/>
              <a:t>: The initial state value, which can be any type (number, string, array, object, etc.).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52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2066-35B6-1A85-0B57-3C6CE995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Same example: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F36B8B-47FF-A447-B08B-CA1272C3C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550" y="2051844"/>
            <a:ext cx="84709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59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7482-A948-F8D5-2A9C-72A81D87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explained..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B3EE-693F-FB98-E138-67F9256A8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We initialize count to 0 by passing 0 to </a:t>
            </a:r>
            <a:r>
              <a:rPr lang="en-CA" err="1"/>
              <a:t>useState</a:t>
            </a:r>
            <a:r>
              <a:rPr lang="en-CA"/>
              <a:t>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The </a:t>
            </a:r>
            <a:r>
              <a:rPr lang="en-CA" err="1"/>
              <a:t>setCount</a:t>
            </a:r>
            <a:r>
              <a:rPr lang="en-CA"/>
              <a:t> function is used to update count whenever the button is clicked.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Each time </a:t>
            </a:r>
            <a:r>
              <a:rPr lang="en-CA" err="1"/>
              <a:t>setCount</a:t>
            </a:r>
            <a:r>
              <a:rPr lang="en-CA"/>
              <a:t> is called, React re-renders the component with the updated count value.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23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481F-1DA9-CFA6-A70D-10112A74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 here..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3115-D45C-E185-22D0-3234E8DB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b="1"/>
              <a:t>State Preservation</a:t>
            </a:r>
            <a:r>
              <a:rPr lang="en-CA"/>
              <a:t>: State persists across re-renders, so changes to count or user values are retained as the component re-renders.</a:t>
            </a:r>
          </a:p>
          <a:p>
            <a:pPr>
              <a:buFont typeface="Arial" panose="020B0604020202020204" pitchFamily="34" charset="0"/>
              <a:buChar char="•"/>
            </a:pPr>
            <a:endParaRPr lang="en-CA"/>
          </a:p>
          <a:p>
            <a:pPr>
              <a:buFont typeface="Arial" panose="020B0604020202020204" pitchFamily="34" charset="0"/>
              <a:buChar char="•"/>
            </a:pPr>
            <a:r>
              <a:rPr lang="en-CA" b="1"/>
              <a:t>Asynchronous Updates</a:t>
            </a:r>
            <a:r>
              <a:rPr lang="en-CA"/>
              <a:t>: Calling </a:t>
            </a:r>
            <a:r>
              <a:rPr lang="en-CA" err="1"/>
              <a:t>setState</a:t>
            </a:r>
            <a:r>
              <a:rPr lang="en-CA"/>
              <a:t> triggers a re-render asynchronously, so multiple state updates may be batched together.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/>
          </a:p>
          <a:p>
            <a:r>
              <a:rPr lang="en-CA"/>
              <a:t>The </a:t>
            </a:r>
            <a:r>
              <a:rPr lang="en-CA" err="1"/>
              <a:t>useState</a:t>
            </a:r>
            <a:r>
              <a:rPr lang="en-CA"/>
              <a:t> Hook is essential for making functional components stateful and interactive, making it easier to handle dynamic data and UI changes in React.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15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03E2-86DB-7E2E-27C8-F9E46851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complex examples with arrays and object data with </a:t>
            </a:r>
            <a:r>
              <a:rPr lang="en-US" err="1"/>
              <a:t>useState</a:t>
            </a:r>
            <a:r>
              <a:rPr lang="en-US"/>
              <a:t>():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A9843-66F2-0E8B-8512-D99EE64A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Let’s see how we update a collection!</a:t>
            </a:r>
          </a:p>
          <a:p>
            <a:endParaRPr lang="en-US"/>
          </a:p>
          <a:p>
            <a:r>
              <a:rPr lang="en-US"/>
              <a:t>First let’s do  it with object</a:t>
            </a:r>
          </a:p>
          <a:p>
            <a:endParaRPr lang="en-US"/>
          </a:p>
          <a:p>
            <a:r>
              <a:rPr lang="en-US"/>
              <a:t>Then with the Array of numbers</a:t>
            </a:r>
          </a:p>
        </p:txBody>
      </p:sp>
    </p:spTree>
    <p:extLst>
      <p:ext uri="{BB962C8B-B14F-4D97-AF65-F5344CB8AC3E}">
        <p14:creationId xmlns:p14="http://schemas.microsoft.com/office/powerpoint/2010/main" val="2985054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D707-E6F4-4349-5507-754B33A2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Server for mock API: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895C-4CB4-A30F-1F98-3D7CFF95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install </a:t>
            </a:r>
            <a:r>
              <a:rPr lang="en-US" dirty="0" err="1"/>
              <a:t>json</a:t>
            </a:r>
            <a:r>
              <a:rPr lang="en-US" dirty="0"/>
              <a:t> server and set up for API calls!</a:t>
            </a:r>
          </a:p>
          <a:p>
            <a:pPr lvl="1"/>
            <a:r>
              <a:rPr lang="en-US" dirty="0"/>
              <a:t>get, post, put, delete calls to a live own server…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Step1: 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json</a:t>
            </a:r>
            <a:r>
              <a:rPr lang="en-US" dirty="0"/>
              <a:t>-server</a:t>
            </a:r>
          </a:p>
          <a:p>
            <a:pPr lvl="1"/>
            <a:r>
              <a:rPr lang="en-US" dirty="0"/>
              <a:t>Step2: in </a:t>
            </a:r>
            <a:r>
              <a:rPr lang="en-US" dirty="0" err="1"/>
              <a:t>package.json</a:t>
            </a:r>
            <a:r>
              <a:rPr lang="en-US" dirty="0"/>
              <a:t>, under “scripts”  write following script:</a:t>
            </a:r>
          </a:p>
          <a:p>
            <a:pPr lvl="2"/>
            <a:r>
              <a:rPr lang="en-US" dirty="0"/>
              <a:t>”</a:t>
            </a:r>
            <a:r>
              <a:rPr lang="en-US" dirty="0" err="1"/>
              <a:t>server”:Json-server</a:t>
            </a:r>
            <a:r>
              <a:rPr lang="en-US" dirty="0"/>
              <a:t> –watch </a:t>
            </a:r>
            <a:r>
              <a:rPr lang="en-US" dirty="0" err="1"/>
              <a:t>db.json</a:t>
            </a:r>
            <a:r>
              <a:rPr lang="en-US" dirty="0"/>
              <a:t> –port 5000</a:t>
            </a:r>
          </a:p>
          <a:p>
            <a:pPr lvl="1"/>
            <a:r>
              <a:rPr lang="en-US" dirty="0"/>
              <a:t>Step3: Create </a:t>
            </a:r>
            <a:r>
              <a:rPr lang="en-US" dirty="0" err="1"/>
              <a:t>db.json</a:t>
            </a:r>
            <a:r>
              <a:rPr lang="en-US" dirty="0"/>
              <a:t> and then in  </a:t>
            </a:r>
            <a:r>
              <a:rPr lang="en-US" dirty="0" err="1"/>
              <a:t>db.json</a:t>
            </a:r>
            <a:r>
              <a:rPr lang="en-US" dirty="0"/>
              <a:t> and add your data in </a:t>
            </a:r>
            <a:r>
              <a:rPr lang="en-US" dirty="0" err="1"/>
              <a:t>json</a:t>
            </a:r>
            <a:r>
              <a:rPr lang="en-US" dirty="0"/>
              <a:t> format there.</a:t>
            </a:r>
          </a:p>
          <a:p>
            <a:pPr lvl="1"/>
            <a:r>
              <a:rPr lang="en-US" dirty="0"/>
              <a:t>Step4: To run </a:t>
            </a:r>
            <a:r>
              <a:rPr lang="en-US" dirty="0" err="1"/>
              <a:t>json</a:t>
            </a:r>
            <a:r>
              <a:rPr lang="en-US" dirty="0"/>
              <a:t> server: </a:t>
            </a:r>
            <a:r>
              <a:rPr lang="en-US" dirty="0" err="1"/>
              <a:t>npm</a:t>
            </a:r>
            <a:r>
              <a:rPr lang="en-US" dirty="0"/>
              <a:t> run server</a:t>
            </a:r>
          </a:p>
          <a:p>
            <a:pPr lvl="1"/>
            <a:r>
              <a:rPr lang="en-US" dirty="0"/>
              <a:t>Step5:T To see the tasks </a:t>
            </a:r>
            <a:r>
              <a:rPr lang="en-US" dirty="0">
                <a:hlinkClick r:id="rId2"/>
              </a:rPr>
              <a:t>http://localhost:5000/tasks</a:t>
            </a:r>
            <a:r>
              <a:rPr lang="en-US" dirty="0"/>
              <a:t>  [whatever the name of the list is]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04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9F7D-CDED-9744-A66B-8C5FD10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r>
              <a:rPr lang="en-US" dirty="0"/>
              <a:t>() hook: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80F3-1581-B217-F0F8-576CCF57D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some side effects when </a:t>
            </a:r>
            <a:r>
              <a:rPr lang="en-US"/>
              <a:t>a component </a:t>
            </a:r>
            <a:r>
              <a:rPr lang="en-US" dirty="0"/>
              <a:t>gets loaded!</a:t>
            </a:r>
          </a:p>
        </p:txBody>
      </p:sp>
    </p:spTree>
    <p:extLst>
      <p:ext uri="{BB962C8B-B14F-4D97-AF65-F5344CB8AC3E}">
        <p14:creationId xmlns:p14="http://schemas.microsoft.com/office/powerpoint/2010/main" val="2188632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C7C6-E0BC-E4EA-60A3-6F30567D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32E16-D545-0999-E5ED-201D6A211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React Router DOM is a library for implementing dynamic routing in a React application.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It allows navigation between views, URL parameter handling, and creating single-page applications (SPAs).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4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ACE2-2844-90B9-2947-75818A33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85EB-54F7-64DF-55D6-E4BF736A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Routes and Route Components:</a:t>
            </a:r>
          </a:p>
          <a:p>
            <a:pPr lvl="1"/>
            <a:r>
              <a:rPr lang="en-US" dirty="0"/>
              <a:t>Define different paths (URLs) and associate them with specific React components.</a:t>
            </a:r>
          </a:p>
          <a:p>
            <a:pPr lvl="1"/>
            <a:r>
              <a:rPr lang="en-US" dirty="0"/>
              <a:t>Render components conditionally based on the URL.</a:t>
            </a:r>
          </a:p>
          <a:p>
            <a:r>
              <a:rPr lang="en-US" dirty="0" err="1"/>
              <a:t>BrowserRouter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Wraps your application and enables React Router features.</a:t>
            </a:r>
          </a:p>
          <a:p>
            <a:pPr lvl="1"/>
            <a:r>
              <a:rPr lang="en-US" dirty="0"/>
              <a:t>Uses the HTML5 history API for handling routing.</a:t>
            </a:r>
          </a:p>
          <a:p>
            <a:r>
              <a:rPr lang="en-US" dirty="0"/>
              <a:t>Link:</a:t>
            </a:r>
          </a:p>
          <a:p>
            <a:pPr lvl="1"/>
            <a:r>
              <a:rPr lang="en-US" dirty="0"/>
              <a:t>Used for navigation without reloading the page.</a:t>
            </a:r>
          </a:p>
          <a:p>
            <a:pPr lvl="1"/>
            <a:r>
              <a:rPr lang="en-US" dirty="0"/>
              <a:t>Replaces the traditional &lt;a&gt; tag for client-side routing.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85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6374-8B51-DEE9-1F7F-66FD60A1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34D8-A655-54D9-E8A8-43A7BD7F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 err="1"/>
              <a:t>useNavigate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A hook for programmatic navigation.</a:t>
            </a:r>
          </a:p>
          <a:p>
            <a:r>
              <a:rPr lang="en-CA" b="1" dirty="0" err="1"/>
              <a:t>useParams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Extracts route parameters from the URL.</a:t>
            </a:r>
          </a:p>
          <a:p>
            <a:r>
              <a:rPr lang="en-CA" b="1" dirty="0" err="1"/>
              <a:t>useLocation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Provides the current location object, including pathname and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27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C3FA-2C9C-9984-4F15-76F4125D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538A-0CF5-DE94-6F68-425C7239A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/>
              <a:t>npm</a:t>
            </a:r>
            <a:r>
              <a:rPr lang="en-CA" dirty="0"/>
              <a:t> install react-router-</a:t>
            </a:r>
            <a:r>
              <a:rPr lang="en-CA" dirty="0" err="1"/>
              <a:t>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2D30-FE70-725A-DEE2-ADAFFCF4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54C66-95C3-FC42-2882-F8A2B28E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Seamless navigation between views without page reloads.</a:t>
            </a:r>
          </a:p>
          <a:p>
            <a:r>
              <a:rPr lang="en-CA" dirty="0"/>
              <a:t>Easily manage application state through URLs.</a:t>
            </a:r>
          </a:p>
          <a:p>
            <a:r>
              <a:rPr lang="en-CA" dirty="0"/>
              <a:t>Simplifies creating SPAs.</a:t>
            </a:r>
          </a:p>
          <a:p>
            <a:r>
              <a:rPr lang="en-CA" dirty="0"/>
              <a:t>Supports dynamic and nested routing.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With React Router DOM, routing becomes intuitive and integrates well with </a:t>
            </a:r>
            <a:r>
              <a:rPr lang="en-CA" dirty="0" err="1"/>
              <a:t>React's</a:t>
            </a:r>
            <a:r>
              <a:rPr lang="en-CA" dirty="0"/>
              <a:t> component-based architecture.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25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9CCF-9505-C357-0C9B-6FDCF7B2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Framer-motion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F4EA-32EF-3994-0D67-B5B2589AF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Framer Motion is a powerful React library for adding animations and transitions to your React components. </a:t>
            </a:r>
          </a:p>
          <a:p>
            <a:endParaRPr lang="en-CA" dirty="0"/>
          </a:p>
          <a:p>
            <a:r>
              <a:rPr lang="en-CA" dirty="0"/>
              <a:t>It provides a declarative way to define animations, making it easy to create smooth, high-performance animations without writing complex CSS or JavaScript logic.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53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AEC2-7F58-68C1-9A78-E9A5FC37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framer-motion?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2BB0-6541-ADB0-2937-BC56398A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Ease of Use</a:t>
            </a:r>
            <a:r>
              <a:rPr lang="en-CA" dirty="0"/>
              <a:t>: Simplifies creating animations with declarative APIs.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Performance</a:t>
            </a:r>
            <a:r>
              <a:rPr lang="en-CA" dirty="0"/>
              <a:t>: Optimized for smooth animations with efficient rendering.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Flexibility</a:t>
            </a:r>
            <a:r>
              <a:rPr lang="en-CA" dirty="0"/>
              <a:t>: Supports keyframes, spring animations, gestures, and drag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Rich Features</a:t>
            </a:r>
            <a:r>
              <a:rPr lang="en-CA" dirty="0"/>
              <a:t>: Includes layout animations, shared element transitions,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31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7CD0-B803-7A22-F23C-20CC5117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65125-C4AD-46DE-D949-7F68D945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npm</a:t>
            </a:r>
            <a:r>
              <a:rPr lang="en-CA" dirty="0"/>
              <a:t> install framer-motion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Let’s implement in our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9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10438</TotalTime>
  <Words>1903</Words>
  <Application>Microsoft Office PowerPoint</Application>
  <PresentationFormat>Widescreen</PresentationFormat>
  <Paragraphs>231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Wingdings</vt:lpstr>
      <vt:lpstr>Office Theme</vt:lpstr>
      <vt:lpstr>Week 10 </vt:lpstr>
      <vt:lpstr>Agenda!</vt:lpstr>
      <vt:lpstr>Introduction to React!</vt:lpstr>
      <vt:lpstr>Why learn React JS?</vt:lpstr>
      <vt:lpstr>Key features of React!</vt:lpstr>
      <vt:lpstr>Setting Up a React Project!</vt:lpstr>
      <vt:lpstr>Understanding the folder structure!</vt:lpstr>
      <vt:lpstr>Very Important Information!</vt:lpstr>
      <vt:lpstr>Let’s explore more about folder structure!</vt:lpstr>
      <vt:lpstr>What is App.jsx after all!</vt:lpstr>
      <vt:lpstr>JSX</vt:lpstr>
      <vt:lpstr>How to make our own Components??</vt:lpstr>
      <vt:lpstr>Props (properties):</vt:lpstr>
      <vt:lpstr>Let’s make our coding a bit spicy! </vt:lpstr>
      <vt:lpstr>Events</vt:lpstr>
      <vt:lpstr>Why to define the event in “App.jsx”?</vt:lpstr>
      <vt:lpstr>State management in React!</vt:lpstr>
      <vt:lpstr>Key points about state in React!</vt:lpstr>
      <vt:lpstr>Example:</vt:lpstr>
      <vt:lpstr>How state Differs from Props</vt:lpstr>
      <vt:lpstr>Hooks </vt:lpstr>
      <vt:lpstr>useState( ) Hook:</vt:lpstr>
      <vt:lpstr>Syntax:</vt:lpstr>
      <vt:lpstr>Same example: </vt:lpstr>
      <vt:lpstr>Example explained..</vt:lpstr>
      <vt:lpstr>Key points here..</vt:lpstr>
      <vt:lpstr>Some complex examples with arrays and object data with useState():</vt:lpstr>
      <vt:lpstr>Json Server for mock API:</vt:lpstr>
      <vt:lpstr>useEffect() hook: </vt:lpstr>
      <vt:lpstr>React Router DOM</vt:lpstr>
      <vt:lpstr>Key concepts:</vt:lpstr>
      <vt:lpstr>Continued..</vt:lpstr>
      <vt:lpstr>Installation</vt:lpstr>
      <vt:lpstr>Advantages</vt:lpstr>
      <vt:lpstr>Framer-motion</vt:lpstr>
      <vt:lpstr>Why framer-motion?</vt:lpstr>
      <vt:lpstr>How to install?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 Atique</cp:lastModifiedBy>
  <cp:revision>17</cp:revision>
  <dcterms:created xsi:type="dcterms:W3CDTF">2024-09-09T03:21:42Z</dcterms:created>
  <dcterms:modified xsi:type="dcterms:W3CDTF">2026-03-18T15:00:49Z</dcterms:modified>
</cp:coreProperties>
</file>