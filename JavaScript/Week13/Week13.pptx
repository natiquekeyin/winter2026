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93" r:id="rId3"/>
    <p:sldId id="294" r:id="rId4"/>
    <p:sldId id="295" r:id="rId5"/>
    <p:sldId id="296" r:id="rId6"/>
    <p:sldId id="297" r:id="rId7"/>
    <p:sldId id="298" r:id="rId8"/>
    <p:sldId id="299" r:id="rId9"/>
    <p:sldId id="347" r:id="rId10"/>
    <p:sldId id="300" r:id="rId11"/>
    <p:sldId id="301" r:id="rId12"/>
    <p:sldId id="302" r:id="rId13"/>
    <p:sldId id="303" r:id="rId14"/>
    <p:sldId id="304" r:id="rId15"/>
    <p:sldId id="305" r:id="rId16"/>
    <p:sldId id="348" r:id="rId17"/>
    <p:sldId id="349" r:id="rId18"/>
    <p:sldId id="306" r:id="rId19"/>
    <p:sldId id="307" r:id="rId20"/>
    <p:sldId id="308" r:id="rId21"/>
    <p:sldId id="309" r:id="rId22"/>
    <p:sldId id="310" r:id="rId23"/>
    <p:sldId id="311" r:id="rId24"/>
    <p:sldId id="312" r:id="rId25"/>
    <p:sldId id="313" r:id="rId26"/>
    <p:sldId id="314" r:id="rId27"/>
    <p:sldId id="315" r:id="rId28"/>
    <p:sldId id="316" r:id="rId29"/>
    <p:sldId id="317" r:id="rId30"/>
    <p:sldId id="318" r:id="rId31"/>
    <p:sldId id="319" r:id="rId32"/>
    <p:sldId id="320" r:id="rId33"/>
    <p:sldId id="321" r:id="rId34"/>
    <p:sldId id="322" r:id="rId35"/>
    <p:sldId id="323" r:id="rId36"/>
    <p:sldId id="324" r:id="rId37"/>
    <p:sldId id="325" r:id="rId38"/>
    <p:sldId id="326" r:id="rId39"/>
    <p:sldId id="327" r:id="rId40"/>
    <p:sldId id="328" r:id="rId41"/>
    <p:sldId id="329" r:id="rId42"/>
    <p:sldId id="330" r:id="rId43"/>
    <p:sldId id="331" r:id="rId44"/>
    <p:sldId id="332" r:id="rId45"/>
    <p:sldId id="333" r:id="rId46"/>
    <p:sldId id="334" r:id="rId47"/>
    <p:sldId id="335" r:id="rId48"/>
    <p:sldId id="336" r:id="rId49"/>
    <p:sldId id="337" r:id="rId50"/>
    <p:sldId id="338" r:id="rId51"/>
    <p:sldId id="342" r:id="rId52"/>
    <p:sldId id="343" r:id="rId53"/>
    <p:sldId id="345" r:id="rId54"/>
    <p:sldId id="346" r:id="rId55"/>
    <p:sldId id="350" r:id="rId5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426"/>
    <p:restoredTop sz="94508"/>
  </p:normalViewPr>
  <p:slideViewPr>
    <p:cSldViewPr snapToGrid="0">
      <p:cViewPr varScale="1">
        <p:scale>
          <a:sx n="59" d="100"/>
          <a:sy n="59" d="100"/>
        </p:scale>
        <p:origin x="98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viewProps" Target="viewProp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A4246-F2A7-4220-A405-8A96DAE08D6A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AA694-516C-4A3E-BD6C-8362A444FC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80320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A4246-F2A7-4220-A405-8A96DAE08D6A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AA694-516C-4A3E-BD6C-8362A444FC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95777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shade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shade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shade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A4246-F2A7-4220-A405-8A96DAE08D6A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AA694-516C-4A3E-BD6C-8362A444FC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42471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A4246-F2A7-4220-A405-8A96DAE08D6A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AA694-516C-4A3E-BD6C-8362A444FC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5696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A4246-F2A7-4220-A405-8A96DAE08D6A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AA694-516C-4A3E-BD6C-8362A444FC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86342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A4246-F2A7-4220-A405-8A96DAE08D6A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AA694-516C-4A3E-BD6C-8362A444FC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80910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A4246-F2A7-4220-A405-8A96DAE08D6A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AA694-516C-4A3E-BD6C-8362A444FC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92719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A4246-F2A7-4220-A405-8A96DAE08D6A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AA694-516C-4A3E-BD6C-8362A444FC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85242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A4246-F2A7-4220-A405-8A96DAE08D6A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AA694-516C-4A3E-BD6C-8362A444FC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00996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A4246-F2A7-4220-A405-8A96DAE08D6A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AA694-516C-4A3E-BD6C-8362A444FC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05545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A4246-F2A7-4220-A405-8A96DAE08D6A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AA694-516C-4A3E-BD6C-8362A444FC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80284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F28A4246-F2A7-4220-A405-8A96DAE08D6A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0DEAA694-516C-4A3E-BD6C-8362A444FC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700781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660AD3-EB3E-8C41-3A42-07BDFD3EF2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54074" y="748199"/>
            <a:ext cx="5015638" cy="2795738"/>
          </a:xfrm>
        </p:spPr>
        <p:txBody>
          <a:bodyPr>
            <a:normAutofit/>
          </a:bodyPr>
          <a:lstStyle/>
          <a:p>
            <a:r>
              <a:rPr lang="en-CA" dirty="0"/>
              <a:t>Week 13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214B3C-C049-698D-5885-08FF0073A9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54074" y="4147639"/>
            <a:ext cx="5015638" cy="2298939"/>
          </a:xfrm>
        </p:spPr>
        <p:txBody>
          <a:bodyPr>
            <a:normAutofit/>
          </a:bodyPr>
          <a:lstStyle/>
          <a:p>
            <a:r>
              <a:rPr lang="en-CA" dirty="0"/>
              <a:t>Testing in React</a:t>
            </a:r>
          </a:p>
        </p:txBody>
      </p:sp>
    </p:spTree>
    <p:extLst>
      <p:ext uri="{BB962C8B-B14F-4D97-AF65-F5344CB8AC3E}">
        <p14:creationId xmlns:p14="http://schemas.microsoft.com/office/powerpoint/2010/main" val="20269281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8E0CAB-C64D-9982-0DD7-18DCF4BD3B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BAE465-94E0-D998-C9E9-77FD92DF7D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7437" y="1763712"/>
            <a:ext cx="10728325" cy="5653088"/>
          </a:xfrm>
        </p:spPr>
        <p:txBody>
          <a:bodyPr>
            <a:normAutofit/>
          </a:bodyPr>
          <a:lstStyle/>
          <a:p>
            <a:r>
              <a:rPr lang="en-US" dirty="0"/>
              <a:t>Introduction to Testing</a:t>
            </a:r>
          </a:p>
          <a:p>
            <a:r>
              <a:rPr lang="en-US" dirty="0"/>
              <a:t>Manual vs Automated Testing</a:t>
            </a:r>
          </a:p>
          <a:p>
            <a:r>
              <a:rPr lang="en-US" dirty="0"/>
              <a:t>Jest &amp; RTL &amp; </a:t>
            </a:r>
            <a:r>
              <a:rPr lang="en-US" dirty="0" err="1"/>
              <a:t>Vitest</a:t>
            </a:r>
            <a:endParaRPr lang="en-US" dirty="0"/>
          </a:p>
          <a:p>
            <a:r>
              <a:rPr lang="en-US" dirty="0"/>
              <a:t>Type of Tests</a:t>
            </a:r>
          </a:p>
          <a:p>
            <a:pPr lvl="1"/>
            <a:r>
              <a:rPr lang="en-US" dirty="0"/>
              <a:t>Unit Tests</a:t>
            </a:r>
          </a:p>
          <a:p>
            <a:pPr lvl="1"/>
            <a:r>
              <a:rPr lang="en-US" dirty="0"/>
              <a:t>Integration Tests</a:t>
            </a:r>
          </a:p>
          <a:p>
            <a:pPr lvl="1"/>
            <a:r>
              <a:rPr lang="en-US" dirty="0"/>
              <a:t>End to End Tests(e2e)</a:t>
            </a:r>
          </a:p>
        </p:txBody>
      </p:sp>
    </p:spTree>
    <p:extLst>
      <p:ext uri="{BB962C8B-B14F-4D97-AF65-F5344CB8AC3E}">
        <p14:creationId xmlns:p14="http://schemas.microsoft.com/office/powerpoint/2010/main" val="18970564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04A62D-6A9A-A577-10FB-D5996D987F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 continued..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E88C07-7808-49D8-F051-7006E02A83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is a Test and how to run in React?</a:t>
            </a:r>
          </a:p>
          <a:p>
            <a:r>
              <a:rPr lang="en-US" dirty="0"/>
              <a:t>TDD (Test Driven Development)</a:t>
            </a:r>
          </a:p>
          <a:p>
            <a:r>
              <a:rPr lang="en-US" dirty="0"/>
              <a:t>Jest Watch Mode – File name conventions!</a:t>
            </a:r>
          </a:p>
          <a:p>
            <a:r>
              <a:rPr lang="en-US" dirty="0"/>
              <a:t>Assertions</a:t>
            </a:r>
          </a:p>
          <a:p>
            <a:r>
              <a:rPr lang="en-US" dirty="0"/>
              <a:t>What and what not to test?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40819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FD3FE7-82D9-291B-9730-15E3BB56C1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Testing!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D7BBD5-20C5-46A3-ADB3-06BF5BA009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build software that works!</a:t>
            </a:r>
          </a:p>
          <a:p>
            <a:r>
              <a:rPr lang="en-US" dirty="0"/>
              <a:t>we write tests to check that!</a:t>
            </a:r>
          </a:p>
          <a:p>
            <a:r>
              <a:rPr lang="en-US" dirty="0"/>
              <a:t> to check whether our software works as </a:t>
            </a:r>
            <a:r>
              <a:rPr lang="en-US" dirty="0">
                <a:solidFill>
                  <a:srgbClr val="FFFF00"/>
                </a:solidFill>
              </a:rPr>
              <a:t>expected!!!!</a:t>
            </a:r>
          </a:p>
        </p:txBody>
      </p:sp>
    </p:spTree>
    <p:extLst>
      <p:ext uri="{BB962C8B-B14F-4D97-AF65-F5344CB8AC3E}">
        <p14:creationId xmlns:p14="http://schemas.microsoft.com/office/powerpoint/2010/main" val="12421889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04879E-36E4-F8F7-6640-87A4151C4A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Manual Vs Automated Testing</a:t>
            </a:r>
            <a:br>
              <a:rPr lang="en-US" dirty="0"/>
            </a:br>
            <a:r>
              <a:rPr lang="en-US" dirty="0"/>
              <a:t>Manual: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674CD3-F3DB-7E2E-91A3-7CDAAA27F6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1.Manual Testing:</a:t>
            </a:r>
          </a:p>
          <a:p>
            <a:pPr marL="0" indent="0">
              <a:buNone/>
            </a:pPr>
            <a:r>
              <a:rPr lang="en-US" dirty="0"/>
              <a:t>opens the website/application, interacts with it in </a:t>
            </a:r>
            <a:r>
              <a:rPr lang="en-US" dirty="0">
                <a:solidFill>
                  <a:srgbClr val="FFFF00"/>
                </a:solidFill>
              </a:rPr>
              <a:t>all possible ways</a:t>
            </a:r>
            <a:r>
              <a:rPr lang="en-US" dirty="0"/>
              <a:t> and ensure everything is working.</a:t>
            </a:r>
          </a:p>
          <a:p>
            <a:pPr marL="0" indent="0">
              <a:buNone/>
            </a:pPr>
            <a:r>
              <a:rPr lang="en-US" dirty="0"/>
              <a:t>    if a new feature is released, we repeat the same steps!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    Problems in MT:</a:t>
            </a:r>
          </a:p>
          <a:p>
            <a:pPr marL="0" indent="0">
              <a:buNone/>
            </a:pPr>
            <a:r>
              <a:rPr lang="en-US" dirty="0"/>
              <a:t>    a. Time consuming</a:t>
            </a:r>
          </a:p>
          <a:p>
            <a:pPr marL="0" indent="0">
              <a:buNone/>
            </a:pPr>
            <a:r>
              <a:rPr lang="en-US" dirty="0"/>
              <a:t>    b. Complex repetitive tasks have a risk of human error.</a:t>
            </a:r>
          </a:p>
          <a:p>
            <a:pPr marL="0" indent="0">
              <a:buNone/>
            </a:pPr>
            <a:r>
              <a:rPr lang="en-US" dirty="0"/>
              <a:t>    c. In large-scale application, we might not be able to test ALL the features...</a:t>
            </a:r>
          </a:p>
        </p:txBody>
      </p:sp>
    </p:spTree>
    <p:extLst>
      <p:ext uri="{BB962C8B-B14F-4D97-AF65-F5344CB8AC3E}">
        <p14:creationId xmlns:p14="http://schemas.microsoft.com/office/powerpoint/2010/main" val="3320795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F7FA6D-294B-8B6C-6D06-49E54E5DE5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Automated!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5537BF-CE75-C0ED-C545-71F47D6472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dirty="0"/>
              <a:t>2. Automated Testing:</a:t>
            </a:r>
          </a:p>
          <a:p>
            <a:pPr marL="0" indent="0">
              <a:buNone/>
            </a:pPr>
            <a:r>
              <a:rPr lang="en-US" dirty="0"/>
              <a:t>    programs that automate the task of testing the software....</a:t>
            </a:r>
          </a:p>
          <a:p>
            <a:pPr marL="0" indent="0">
              <a:buNone/>
            </a:pPr>
            <a:r>
              <a:rPr lang="en-US" dirty="0"/>
              <a:t>    additional effort is required, but once done, it can be used for long...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    Advantages of Automated Testing:</a:t>
            </a:r>
          </a:p>
          <a:p>
            <a:pPr marL="0" indent="0">
              <a:buNone/>
            </a:pPr>
            <a:r>
              <a:rPr lang="en-US" dirty="0"/>
              <a:t>    a. Not time consuming...</a:t>
            </a:r>
          </a:p>
          <a:p>
            <a:pPr marL="0" indent="0">
              <a:buNone/>
            </a:pPr>
            <a:r>
              <a:rPr lang="en-US" dirty="0"/>
              <a:t>    b. Reliable, consistent and not error prone..</a:t>
            </a:r>
          </a:p>
          <a:p>
            <a:pPr marL="0" indent="0">
              <a:buNone/>
            </a:pPr>
            <a:r>
              <a:rPr lang="en-US" dirty="0"/>
              <a:t>    c. Easy to identify and fix features that break tests...</a:t>
            </a:r>
          </a:p>
          <a:p>
            <a:pPr marL="0" indent="0">
              <a:buNone/>
            </a:pPr>
            <a:r>
              <a:rPr lang="en-US" dirty="0"/>
              <a:t>    d. Give confidence when shipping the software.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70230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1C8989-9E4C-12D2-0DF6-178B2BD702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Jest (JavaScript testing framework) &amp; RTL (React Testing Library) &amp; </a:t>
            </a:r>
            <a:r>
              <a:rPr lang="en-US" dirty="0" err="1"/>
              <a:t>Vitest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A44A35-02C0-18E5-01F0-DF1675C7B2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Jest:</a:t>
            </a:r>
          </a:p>
          <a:p>
            <a:r>
              <a:rPr lang="en-US" dirty="0"/>
              <a:t>is a JavaScript testing framework.</a:t>
            </a:r>
          </a:p>
          <a:p>
            <a:r>
              <a:rPr lang="en-US" dirty="0"/>
              <a:t> is a test runner that finds tests, run the test, determines where the tests are passed or failed...and reports it back in a human readable manner.</a:t>
            </a:r>
          </a:p>
        </p:txBody>
      </p:sp>
    </p:spTree>
    <p:extLst>
      <p:ext uri="{BB962C8B-B14F-4D97-AF65-F5344CB8AC3E}">
        <p14:creationId xmlns:p14="http://schemas.microsoft.com/office/powerpoint/2010/main" val="27860192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47B649-E20C-33BA-268C-E9132A8C9C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RTL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C413FB-9293-D52C-0A36-A93EFD4A1F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RTL:</a:t>
            </a:r>
          </a:p>
          <a:p>
            <a:r>
              <a:rPr lang="en-US" dirty="0"/>
              <a:t>    testing utility that provides "Virtual DOM" for testing react components.[imitates the react-DOM and works with that...]</a:t>
            </a:r>
          </a:p>
          <a:p>
            <a:r>
              <a:rPr lang="en-US" dirty="0"/>
              <a:t>    Virtual DOM can be used to interact and verify the behavior of a react component</a:t>
            </a:r>
          </a:p>
          <a:p>
            <a:endParaRPr lang="en-US" dirty="0"/>
          </a:p>
          <a:p>
            <a:r>
              <a:rPr lang="en-US" dirty="0"/>
              <a:t>The core library is called "DOM Testing Library" and RTL is simply a wrapper around the core library to test React Applications in an easier way...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69522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62D4F9-FC61-459B-716E-29D61F08DC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Vitest</a:t>
            </a:r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DD0F44-D604-604B-DBDD-953989E333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Library/test runner for testing react components.</a:t>
            </a:r>
          </a:p>
          <a:p>
            <a:endParaRPr lang="en-US" dirty="0"/>
          </a:p>
          <a:p>
            <a:r>
              <a:rPr lang="en-US" dirty="0"/>
              <a:t>Supports Typescript, JSX…</a:t>
            </a:r>
          </a:p>
        </p:txBody>
      </p:sp>
    </p:spTree>
    <p:extLst>
      <p:ext uri="{BB962C8B-B14F-4D97-AF65-F5344CB8AC3E}">
        <p14:creationId xmlns:p14="http://schemas.microsoft.com/office/powerpoint/2010/main" val="12249553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FB1A53-6560-A342-64D2-9436602CF1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Tests: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2936B4-BC71-912F-7AC1-2365AA1F03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1. Unit tests</a:t>
            </a:r>
          </a:p>
          <a:p>
            <a:pPr marL="0" indent="0">
              <a:buNone/>
            </a:pPr>
            <a:r>
              <a:rPr lang="en-US" dirty="0"/>
              <a:t>2. Integration Tests</a:t>
            </a:r>
          </a:p>
          <a:p>
            <a:pPr marL="0" indent="0">
              <a:buNone/>
            </a:pPr>
            <a:r>
              <a:rPr lang="en-US" dirty="0"/>
              <a:t>3. End to End Tests(e2e)</a:t>
            </a:r>
          </a:p>
        </p:txBody>
      </p:sp>
    </p:spTree>
    <p:extLst>
      <p:ext uri="{BB962C8B-B14F-4D97-AF65-F5344CB8AC3E}">
        <p14:creationId xmlns:p14="http://schemas.microsoft.com/office/powerpoint/2010/main" val="24368767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83D73A-E9D6-2010-6A2F-433A2CCBB3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Unit Tests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E67E12-655B-097A-AAC9-0DA3FB4113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Testing of individual building blocks of an application.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Each unit is tested in Isolation, independent of other units.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Run in a short amount of time and make it very easy to pinpoint failures.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Relatively easier to write and maintain...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84737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B750B5-1F49-C96A-496C-B68DD720D6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Integration Tests: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580BFD-5E3C-4246-A0F1-B2282AC69A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Testing of a combination of units and ensuring they work together. 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Takes longer than unit tests.</a:t>
            </a:r>
          </a:p>
        </p:txBody>
      </p:sp>
    </p:spTree>
    <p:extLst>
      <p:ext uri="{BB962C8B-B14F-4D97-AF65-F5344CB8AC3E}">
        <p14:creationId xmlns:p14="http://schemas.microsoft.com/office/powerpoint/2010/main" val="19739921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8BE109-11B0-F427-1F34-4911BEAF51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End to End Tests(E2E)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2C53E5-4DAC-8612-ADE4-44532AA23E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Testing the ENTIRE application flow and ensuring it works as designed .. from start to finish.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It involves a real UI, a real backend database, real services etc..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Takes the longest time, cost of implication is involved, because we might interact with real APIs (PAID) that charge based on the number of requests..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9645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2EB849-DB1D-AFEF-8036-36B8237A9C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TEST? - Demo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3226C2-C77E-F2BC-E0C4-0557428038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000" y="1463040"/>
            <a:ext cx="10728325" cy="530352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const </a:t>
            </a:r>
            <a:r>
              <a:rPr lang="en-US" dirty="0" err="1"/>
              <a:t>addPeriod</a:t>
            </a:r>
            <a:r>
              <a:rPr lang="en-US" dirty="0"/>
              <a:t> = (s)=&gt;{</a:t>
            </a:r>
          </a:p>
          <a:p>
            <a:pPr marL="0" indent="0">
              <a:buNone/>
            </a:pPr>
            <a:r>
              <a:rPr lang="en-US" dirty="0"/>
              <a:t>    //return `${s}.`;</a:t>
            </a:r>
          </a:p>
          <a:p>
            <a:pPr marL="0" indent="0">
              <a:buNone/>
            </a:pPr>
            <a:r>
              <a:rPr lang="en-US" dirty="0"/>
              <a:t>    // return s + ".";</a:t>
            </a:r>
          </a:p>
          <a:p>
            <a:pPr marL="0" indent="0">
              <a:buNone/>
            </a:pPr>
            <a:r>
              <a:rPr lang="en-US" dirty="0"/>
              <a:t>    //return s+ '.';</a:t>
            </a:r>
          </a:p>
          <a:p>
            <a:pPr marL="0" indent="0">
              <a:buNone/>
            </a:pPr>
            <a:r>
              <a:rPr lang="en-US" dirty="0"/>
              <a:t>    }</a:t>
            </a:r>
          </a:p>
          <a:p>
            <a:pPr marL="0" indent="0">
              <a:buNone/>
            </a:pPr>
            <a:r>
              <a:rPr lang="en-US" dirty="0"/>
              <a:t>const actual = </a:t>
            </a:r>
            <a:r>
              <a:rPr lang="en-US" dirty="0" err="1"/>
              <a:t>addPeriod</a:t>
            </a:r>
            <a:r>
              <a:rPr lang="en-US" dirty="0"/>
              <a:t>("Hello World");//output: Hello World.</a:t>
            </a:r>
          </a:p>
          <a:p>
            <a:pPr marL="0" indent="0">
              <a:buNone/>
            </a:pPr>
            <a:r>
              <a:rPr lang="en-US" dirty="0"/>
              <a:t>const expected = "Hello World.";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try{</a:t>
            </a:r>
          </a:p>
          <a:p>
            <a:pPr marL="0" indent="0">
              <a:buNone/>
            </a:pPr>
            <a:r>
              <a:rPr lang="en-US" dirty="0"/>
              <a:t>if(actual !== expected){</a:t>
            </a:r>
          </a:p>
          <a:p>
            <a:pPr marL="0" indent="0">
              <a:buNone/>
            </a:pPr>
            <a:r>
              <a:rPr lang="en-US" dirty="0"/>
              <a:t>    throw new Error("Test not passed);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r>
              <a:rPr lang="en-US" dirty="0"/>
              <a:t>}catch()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03878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A48414-26E9-F3C9-B306-6BB46AEFE0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we need to write tests in React?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38BE20-64A2-3DB1-8BF2-A3A6BE67EF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a. node </a:t>
            </a:r>
            <a:r>
              <a:rPr lang="en-US" dirty="0" err="1"/>
              <a:t>js</a:t>
            </a:r>
            <a:r>
              <a:rPr lang="en-US" dirty="0"/>
              <a:t> (YES)</a:t>
            </a:r>
          </a:p>
          <a:p>
            <a:pPr marL="0" indent="0">
              <a:buNone/>
            </a:pPr>
            <a:r>
              <a:rPr lang="en-US" dirty="0"/>
              <a:t>b. git (?)  GO AND INSTALL…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Syntax of a test is </a:t>
            </a:r>
          </a:p>
          <a:p>
            <a:pPr marL="0" indent="0">
              <a:buNone/>
            </a:pPr>
            <a:r>
              <a:rPr lang="en-US" dirty="0"/>
              <a:t>test(</a:t>
            </a:r>
            <a:r>
              <a:rPr lang="en-US" dirty="0" err="1"/>
              <a:t>name,fn,timeout</a:t>
            </a:r>
            <a:r>
              <a:rPr lang="en-US" dirty="0"/>
              <a:t>*)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56250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24E5E6-3A6F-42C1-889C-4F2CEE7C1A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Installations to run our tests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D70BFF-0ADC-AAF2-535E-0E6B6CD2EB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err="1"/>
              <a:t>npm</a:t>
            </a:r>
            <a:r>
              <a:rPr lang="en-US" dirty="0"/>
              <a:t> install –save-dev </a:t>
            </a:r>
            <a:r>
              <a:rPr lang="en-US" dirty="0" err="1"/>
              <a:t>vitest</a:t>
            </a:r>
            <a:r>
              <a:rPr lang="en-US" dirty="0"/>
              <a:t> @testing-library/react @testing-library/</a:t>
            </a:r>
            <a:r>
              <a:rPr lang="en-US" dirty="0" err="1"/>
              <a:t>jest-dom@latest</a:t>
            </a:r>
            <a:r>
              <a:rPr lang="en-US" dirty="0"/>
              <a:t> </a:t>
            </a:r>
            <a:r>
              <a:rPr lang="en-US" dirty="0" err="1"/>
              <a:t>jsdom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Now in </a:t>
            </a:r>
            <a:r>
              <a:rPr lang="en-US" dirty="0" err="1"/>
              <a:t>vite.config.js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Add: </a:t>
            </a:r>
          </a:p>
          <a:p>
            <a:pPr marL="0" indent="0">
              <a:buNone/>
            </a:pPr>
            <a:r>
              <a:rPr lang="en-US" dirty="0"/>
              <a:t>test:{</a:t>
            </a:r>
          </a:p>
          <a:p>
            <a:pPr marL="0" indent="0">
              <a:buNone/>
            </a:pPr>
            <a:r>
              <a:rPr lang="en-US" dirty="0"/>
              <a:t>environment:”</a:t>
            </a:r>
            <a:r>
              <a:rPr lang="en-US" dirty="0" err="1"/>
              <a:t>jsdom</a:t>
            </a:r>
            <a:r>
              <a:rPr lang="en-US" dirty="0"/>
              <a:t>”}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57497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1A4B15-755A-7C5B-CCB6-32A9663A04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Now we need DOM emulation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5D84D0-0BC0-70AC-6B03-A4CE84ECC7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node </a:t>
            </a:r>
            <a:r>
              <a:rPr lang="en-US" dirty="0" err="1"/>
              <a:t>js</a:t>
            </a:r>
            <a:r>
              <a:rPr lang="en-US" dirty="0"/>
              <a:t> has no direct access to browser resources, for this reason now we need another </a:t>
            </a:r>
            <a:r>
              <a:rPr lang="en-US" dirty="0" err="1"/>
              <a:t>api</a:t>
            </a:r>
            <a:r>
              <a:rPr lang="en-US" dirty="0"/>
              <a:t> that allows us the interaction with browser </a:t>
            </a:r>
            <a:r>
              <a:rPr lang="en-US" dirty="0" err="1"/>
              <a:t>api</a:t>
            </a:r>
            <a:endParaRPr lang="en-US" dirty="0"/>
          </a:p>
          <a:p>
            <a:endParaRPr lang="en-US" dirty="0"/>
          </a:p>
          <a:p>
            <a:r>
              <a:rPr lang="en-US" dirty="0"/>
              <a:t>JSDOM…</a:t>
            </a:r>
          </a:p>
        </p:txBody>
      </p:sp>
    </p:spTree>
    <p:extLst>
      <p:ext uri="{BB962C8B-B14F-4D97-AF65-F5344CB8AC3E}">
        <p14:creationId xmlns:p14="http://schemas.microsoft.com/office/powerpoint/2010/main" val="260538531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A6DF9E-CC58-AB81-F771-8E3FD4AD38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run tests?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AA0413-FC8A-2C77-31B8-C293124368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npm</a:t>
            </a:r>
            <a:r>
              <a:rPr lang="en-US" dirty="0"/>
              <a:t> run test </a:t>
            </a:r>
          </a:p>
          <a:p>
            <a:r>
              <a:rPr lang="en-US" dirty="0"/>
              <a:t> tests are run in watch mode, keep an eye on all the changed files that have not been committed yet, it runs all the tests all the tests from them..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45578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3D82DB-0185-3CBA-7151-B8ACBF5B1D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 Driven Development - TDD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06C56E-1621-F77C-0418-58F531AF1D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TDD is a software development process where you write tests BEFORE writing the software code.</a:t>
            </a:r>
          </a:p>
          <a:p>
            <a:pPr marL="0" indent="0">
              <a:buNone/>
            </a:pPr>
            <a:r>
              <a:rPr lang="en-US" dirty="0"/>
              <a:t>    Once the tests have been written, you then write the code to ensure the tests pass.</a:t>
            </a:r>
          </a:p>
          <a:p>
            <a:pPr marL="0" indent="0">
              <a:buNone/>
            </a:pPr>
            <a:r>
              <a:rPr lang="en-US" dirty="0"/>
              <a:t>    a. Create Tests that verify the functionality of a specific features.</a:t>
            </a:r>
          </a:p>
          <a:p>
            <a:pPr marL="0" indent="0">
              <a:buNone/>
            </a:pPr>
            <a:r>
              <a:rPr lang="en-US" dirty="0"/>
              <a:t>    b. Write code that will run the tests successfully when re-executed..</a:t>
            </a:r>
          </a:p>
          <a:p>
            <a:pPr marL="0" indent="0">
              <a:buNone/>
            </a:pPr>
            <a:r>
              <a:rPr lang="en-US" dirty="0"/>
              <a:t>    c. Refactor the code for optimization while ensuring the tests continue to pass..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 Red-green testing! as all tests go from a red "Failed" state to a green "Passed" state.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473796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6CD55D-67DE-E2DC-9FA5-1483115A0A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Jest Watch Mode: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9B2FEB-6CA4-8656-7710-FE3CA61A17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is an option that we can pas to jest asking to watch files that have changed since the last commit and execute the test related only to those change files..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File name conventions:</a:t>
            </a:r>
          </a:p>
          <a:p>
            <a:pPr marL="0" indent="0">
              <a:buNone/>
            </a:pPr>
            <a:r>
              <a:rPr lang="en-US" dirty="0"/>
              <a:t>1. Files with .test.js or .</a:t>
            </a:r>
            <a:r>
              <a:rPr lang="en-US" dirty="0" err="1"/>
              <a:t>test.jsx</a:t>
            </a:r>
            <a:r>
              <a:rPr lang="en-US" dirty="0"/>
              <a:t> suffix</a:t>
            </a:r>
          </a:p>
          <a:p>
            <a:pPr marL="0" indent="0">
              <a:buNone/>
            </a:pPr>
            <a:r>
              <a:rPr lang="en-US" dirty="0"/>
              <a:t>2. Files with .spec.js or .</a:t>
            </a:r>
            <a:r>
              <a:rPr lang="en-US" dirty="0" err="1"/>
              <a:t>spec.jsx</a:t>
            </a:r>
            <a:r>
              <a:rPr lang="en-US" dirty="0"/>
              <a:t> suffix</a:t>
            </a:r>
          </a:p>
          <a:p>
            <a:pPr marL="0" indent="0">
              <a:buNone/>
            </a:pPr>
            <a:r>
              <a:rPr lang="en-US" dirty="0"/>
              <a:t>3.</a:t>
            </a:r>
          </a:p>
        </p:txBody>
      </p:sp>
    </p:spTree>
    <p:extLst>
      <p:ext uri="{BB962C8B-B14F-4D97-AF65-F5344CB8AC3E}">
        <p14:creationId xmlns:p14="http://schemas.microsoft.com/office/powerpoint/2010/main" val="176774270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D19D4E-19BB-898F-2F0E-52CBD3653C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to Test?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FB0DB4-3ACB-4C0B-7A7A-355B03F30E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Test component renders</a:t>
            </a:r>
          </a:p>
          <a:p>
            <a:r>
              <a:rPr lang="en-US" dirty="0"/>
              <a:t>Test component renders with props</a:t>
            </a:r>
          </a:p>
          <a:p>
            <a:r>
              <a:rPr lang="en-US" dirty="0"/>
              <a:t>Test component renders in different states</a:t>
            </a:r>
          </a:p>
          <a:p>
            <a:r>
              <a:rPr lang="en-US" dirty="0"/>
              <a:t>Test component reacts to events..</a:t>
            </a:r>
          </a:p>
        </p:txBody>
      </p:sp>
    </p:spTree>
    <p:extLst>
      <p:ext uri="{BB962C8B-B14F-4D97-AF65-F5344CB8AC3E}">
        <p14:creationId xmlns:p14="http://schemas.microsoft.com/office/powerpoint/2010/main" val="124421177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2A2DDD-32A0-246F-4991-BD5D90DEEB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not to test?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083FB4-7B5D-957B-8000-A07DCEFD95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Implementation details</a:t>
            </a:r>
          </a:p>
          <a:p>
            <a:r>
              <a:rPr lang="en-US" dirty="0"/>
              <a:t>Third party code</a:t>
            </a:r>
          </a:p>
          <a:p>
            <a:r>
              <a:rPr lang="en-US" dirty="0"/>
              <a:t>Code that is not important from a user point of view...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21305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2CAF08-155C-348E-2AFB-277D7E40EC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RTL Queries</a:t>
            </a:r>
            <a:br>
              <a:rPr lang="en-CA" dirty="0"/>
            </a:br>
            <a:endParaRPr lang="en-CA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338C9DF-559A-FFB8-AB64-69CC792609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000" y="1707614"/>
            <a:ext cx="10728325" cy="4061361"/>
          </a:xfrm>
        </p:spPr>
        <p:txBody>
          <a:bodyPr>
            <a:normAutofit/>
          </a:bodyPr>
          <a:lstStyle/>
          <a:p>
            <a:r>
              <a:rPr lang="en-CA" dirty="0"/>
              <a:t>RTL Queries</a:t>
            </a:r>
          </a:p>
          <a:p>
            <a:pPr lvl="1"/>
            <a:r>
              <a:rPr lang="en-CA" dirty="0"/>
              <a:t>Rendering the components – render( ) method from RTL</a:t>
            </a:r>
          </a:p>
          <a:p>
            <a:pPr lvl="1"/>
            <a:r>
              <a:rPr lang="en-CA" dirty="0"/>
              <a:t>Find an element rendered by the component – </a:t>
            </a:r>
            <a:r>
              <a:rPr lang="en-CA" dirty="0" err="1"/>
              <a:t>screen.getBy</a:t>
            </a:r>
            <a:r>
              <a:rPr lang="en-CA" dirty="0"/>
              <a:t>..() method from RTL</a:t>
            </a:r>
          </a:p>
          <a:p>
            <a:pPr lvl="1"/>
            <a:r>
              <a:rPr lang="en-CA" dirty="0"/>
              <a:t>Assert against the element found expect(). “matcher function”</a:t>
            </a:r>
          </a:p>
          <a:p>
            <a:pPr lvl="1"/>
            <a:endParaRPr lang="en-CA" dirty="0"/>
          </a:p>
          <a:p>
            <a:r>
              <a:rPr lang="en-CA" dirty="0"/>
              <a:t>Queries are the methods that Testing Library provides to find elements on the page</a:t>
            </a:r>
          </a:p>
          <a:p>
            <a:pPr marL="0" indent="0">
              <a:buNone/>
            </a:pP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73701698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A2D44-6EEF-212A-8A02-596A21C071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Assertions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FC7244-40D4-F5DD-6A45-7ECF0BE357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When writing tests, we often need to check that values meet certain </a:t>
            </a:r>
            <a:r>
              <a:rPr lang="en-US" dirty="0" err="1"/>
              <a:t>conditions..assertions</a:t>
            </a:r>
            <a:r>
              <a:rPr lang="en-US" dirty="0"/>
              <a:t> decide if a test passes or fails..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expect()... </a:t>
            </a:r>
            <a:r>
              <a:rPr lang="en-US" dirty="0" err="1"/>
              <a:t>Asertion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en-US" dirty="0"/>
              <a:t>            Matcher functions: the functions used to implement the assertion..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expect("hello").</a:t>
            </a:r>
            <a:r>
              <a:rPr lang="en-US" dirty="0" err="1"/>
              <a:t>toBeInTheDocument</a:t>
            </a:r>
            <a:r>
              <a:rPr lang="en-US" dirty="0"/>
              <a:t>(); //pass if document contains string "hello" and fails otherwise!</a:t>
            </a:r>
          </a:p>
        </p:txBody>
      </p:sp>
    </p:spTree>
    <p:extLst>
      <p:ext uri="{BB962C8B-B14F-4D97-AF65-F5344CB8AC3E}">
        <p14:creationId xmlns:p14="http://schemas.microsoft.com/office/powerpoint/2010/main" val="177541683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314FF7-EA50-975D-C514-46BD1FE473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To find single &amp; multiple elements on the page!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668F9B-65BB-4274-7D57-2C5F79277D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CA" dirty="0"/>
              <a:t>To find a single element on the page, we  have</a:t>
            </a:r>
          </a:p>
          <a:p>
            <a:pPr lvl="1"/>
            <a:r>
              <a:rPr lang="en-CA" dirty="0" err="1"/>
              <a:t>getBy</a:t>
            </a:r>
            <a:r>
              <a:rPr lang="en-CA" dirty="0"/>
              <a:t>..</a:t>
            </a:r>
          </a:p>
          <a:p>
            <a:pPr lvl="1"/>
            <a:r>
              <a:rPr lang="en-CA" dirty="0" err="1"/>
              <a:t>queryBy</a:t>
            </a:r>
            <a:r>
              <a:rPr lang="en-CA" dirty="0"/>
              <a:t>..</a:t>
            </a:r>
          </a:p>
          <a:p>
            <a:pPr lvl="1"/>
            <a:r>
              <a:rPr lang="en-CA" dirty="0" err="1"/>
              <a:t>findBy</a:t>
            </a:r>
            <a:r>
              <a:rPr lang="en-CA" dirty="0"/>
              <a:t>..</a:t>
            </a:r>
          </a:p>
          <a:p>
            <a:r>
              <a:rPr lang="en-CA" dirty="0"/>
              <a:t>To find the multiple elements on the page, we have </a:t>
            </a:r>
          </a:p>
          <a:p>
            <a:pPr lvl="1"/>
            <a:r>
              <a:rPr lang="en-CA" dirty="0" err="1"/>
              <a:t>getAllBy</a:t>
            </a:r>
            <a:r>
              <a:rPr lang="en-CA" dirty="0"/>
              <a:t>..</a:t>
            </a:r>
          </a:p>
          <a:p>
            <a:pPr lvl="1"/>
            <a:r>
              <a:rPr lang="en-CA" dirty="0" err="1"/>
              <a:t>queryAllBy</a:t>
            </a:r>
            <a:r>
              <a:rPr lang="en-CA" dirty="0"/>
              <a:t>..</a:t>
            </a:r>
          </a:p>
          <a:p>
            <a:pPr lvl="1"/>
            <a:r>
              <a:rPr lang="en-CA" dirty="0" err="1"/>
              <a:t>findAllBy</a:t>
            </a:r>
            <a:r>
              <a:rPr lang="en-CA" dirty="0"/>
              <a:t>..</a:t>
            </a:r>
          </a:p>
          <a:p>
            <a:pPr marL="457200" lvl="1" indent="0">
              <a:buNone/>
            </a:pPr>
            <a:r>
              <a:rPr lang="en-CA" dirty="0"/>
              <a:t>The suffix “..” can be one of Role, </a:t>
            </a:r>
            <a:r>
              <a:rPr lang="en-CA" dirty="0" err="1"/>
              <a:t>LabelText</a:t>
            </a:r>
            <a:r>
              <a:rPr lang="en-CA" dirty="0"/>
              <a:t>, </a:t>
            </a:r>
            <a:r>
              <a:rPr lang="en-CA" dirty="0" err="1"/>
              <a:t>PlaceHolderText</a:t>
            </a:r>
            <a:r>
              <a:rPr lang="en-CA" dirty="0"/>
              <a:t>, </a:t>
            </a:r>
            <a:r>
              <a:rPr lang="en-CA" dirty="0">
                <a:solidFill>
                  <a:srgbClr val="FFFF00"/>
                </a:solidFill>
              </a:rPr>
              <a:t>Text</a:t>
            </a:r>
            <a:r>
              <a:rPr lang="en-CA" dirty="0"/>
              <a:t>, </a:t>
            </a:r>
            <a:r>
              <a:rPr lang="en-CA" dirty="0" err="1"/>
              <a:t>DisplayValue</a:t>
            </a:r>
            <a:r>
              <a:rPr lang="en-CA" dirty="0"/>
              <a:t>, </a:t>
            </a:r>
            <a:r>
              <a:rPr lang="en-CA" dirty="0" err="1"/>
              <a:t>AltText</a:t>
            </a:r>
            <a:r>
              <a:rPr lang="en-CA" dirty="0"/>
              <a:t>, Title and finally </a:t>
            </a:r>
            <a:r>
              <a:rPr lang="en-CA" dirty="0" err="1"/>
              <a:t>TestId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40756022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1C1F74-23AA-96DC-B27E-67DDB2BB18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 err="1"/>
              <a:t>getByRole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D3CAD8-C495-2289-A5A8-F290567B89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9997" y="1966413"/>
            <a:ext cx="10728325" cy="3227375"/>
          </a:xfrm>
        </p:spPr>
        <p:txBody>
          <a:bodyPr>
            <a:normAutofit lnSpcReduction="10000"/>
          </a:bodyPr>
          <a:lstStyle/>
          <a:p>
            <a:r>
              <a:rPr lang="en-CA" dirty="0" err="1"/>
              <a:t>getByRole</a:t>
            </a:r>
            <a:r>
              <a:rPr lang="en-CA" dirty="0"/>
              <a:t> queries for elements with the given role</a:t>
            </a:r>
          </a:p>
          <a:p>
            <a:endParaRPr lang="en-CA" dirty="0"/>
          </a:p>
          <a:p>
            <a:r>
              <a:rPr lang="en-CA" dirty="0"/>
              <a:t>Role refers to the ARIA (Accessible Rich Internet Applications) role which provides </a:t>
            </a:r>
            <a:r>
              <a:rPr lang="en-CA" dirty="0">
                <a:solidFill>
                  <a:srgbClr val="FFFF00"/>
                </a:solidFill>
              </a:rPr>
              <a:t>semantic meaning to the content </a:t>
            </a:r>
            <a:r>
              <a:rPr lang="en-CA" dirty="0"/>
              <a:t>to ensure people using assistive technologies are able to use them.</a:t>
            </a:r>
          </a:p>
          <a:p>
            <a:r>
              <a:rPr lang="en-CA" dirty="0"/>
              <a:t>&lt;nav&gt;&lt;header&gt;&lt;main&gt;..</a:t>
            </a:r>
          </a:p>
          <a:p>
            <a:r>
              <a:rPr lang="en-CA" dirty="0"/>
              <a:t>&lt;div role=“main”&gt;&lt;span &gt;&lt;p&gt;</a:t>
            </a:r>
          </a:p>
        </p:txBody>
      </p:sp>
    </p:spTree>
    <p:extLst>
      <p:ext uri="{BB962C8B-B14F-4D97-AF65-F5344CB8AC3E}">
        <p14:creationId xmlns:p14="http://schemas.microsoft.com/office/powerpoint/2010/main" val="325145352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BAC4D0-4976-C747-88D0-A517B1E67D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 err="1"/>
              <a:t>getByRole</a:t>
            </a:r>
            <a:r>
              <a:rPr lang="en-CA" dirty="0"/>
              <a:t> cont..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69A5E2-4AC0-334C-FDD8-47EF2BA5DC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3678" y="1460090"/>
            <a:ext cx="10704647" cy="4308885"/>
          </a:xfrm>
        </p:spPr>
        <p:txBody>
          <a:bodyPr/>
          <a:lstStyle/>
          <a:p>
            <a:r>
              <a:rPr lang="en-CA" dirty="0"/>
              <a:t>By default, many semantic elements in HTML have a role</a:t>
            </a:r>
          </a:p>
          <a:p>
            <a:endParaRPr lang="en-CA" dirty="0"/>
          </a:p>
          <a:p>
            <a:r>
              <a:rPr lang="en-CA" dirty="0"/>
              <a:t>Button element has a </a:t>
            </a:r>
            <a:r>
              <a:rPr lang="en-CA" dirty="0">
                <a:solidFill>
                  <a:srgbClr val="FFFF00"/>
                </a:solidFill>
              </a:rPr>
              <a:t>button</a:t>
            </a:r>
            <a:r>
              <a:rPr lang="en-CA" dirty="0"/>
              <a:t> role, anchor element has a </a:t>
            </a:r>
            <a:r>
              <a:rPr lang="en-CA" dirty="0">
                <a:solidFill>
                  <a:srgbClr val="FFFF00"/>
                </a:solidFill>
              </a:rPr>
              <a:t>link</a:t>
            </a:r>
            <a:r>
              <a:rPr lang="en-CA" dirty="0"/>
              <a:t> role, h1 to h6 elements have a heading role, checkboxes have a checkbox role, radio buttons have a radio role and so on.</a:t>
            </a:r>
          </a:p>
          <a:p>
            <a:endParaRPr lang="en-CA" dirty="0"/>
          </a:p>
          <a:p>
            <a:r>
              <a:rPr lang="en-CA" dirty="0"/>
              <a:t>If there is not default role, the role attribute can be used to add the desired role. For example, </a:t>
            </a:r>
            <a:r>
              <a:rPr lang="en-CA" dirty="0">
                <a:solidFill>
                  <a:srgbClr val="FFFF00"/>
                </a:solidFill>
              </a:rPr>
              <a:t>&lt;a role=‘button’&gt; </a:t>
            </a:r>
            <a:r>
              <a:rPr lang="en-CA" dirty="0"/>
              <a:t>will make anchor’s role as button here.</a:t>
            </a:r>
          </a:p>
        </p:txBody>
      </p:sp>
    </p:spTree>
    <p:extLst>
      <p:ext uri="{BB962C8B-B14F-4D97-AF65-F5344CB8AC3E}">
        <p14:creationId xmlns:p14="http://schemas.microsoft.com/office/powerpoint/2010/main" val="288748299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F42C01-66DC-1955-3A7C-8594B7E2D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619200"/>
            <a:ext cx="10728322" cy="722903"/>
          </a:xfrm>
        </p:spPr>
        <p:txBody>
          <a:bodyPr/>
          <a:lstStyle/>
          <a:p>
            <a:r>
              <a:rPr lang="en-CA" dirty="0"/>
              <a:t>Demo for </a:t>
            </a:r>
            <a:r>
              <a:rPr lang="en-CA" dirty="0" err="1"/>
              <a:t>getByRole</a:t>
            </a:r>
            <a:r>
              <a:rPr lang="en-CA" dirty="0"/>
              <a:t>( 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117DF0-F4A6-D159-DBDC-B3B5AABE28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837" y="1342103"/>
            <a:ext cx="10728325" cy="5207185"/>
          </a:xfrm>
        </p:spPr>
        <p:txBody>
          <a:bodyPr>
            <a:normAutofit fontScale="92500" lnSpcReduction="20000"/>
          </a:bodyPr>
          <a:lstStyle/>
          <a:p>
            <a:r>
              <a:rPr lang="en-CA" dirty="0"/>
              <a:t>const </a:t>
            </a:r>
            <a:r>
              <a:rPr lang="en-CA" dirty="0" err="1"/>
              <a:t>nameElement</a:t>
            </a:r>
            <a:r>
              <a:rPr lang="en-CA" dirty="0"/>
              <a:t> = </a:t>
            </a:r>
            <a:r>
              <a:rPr lang="en-CA" dirty="0" err="1"/>
              <a:t>screen.getByRole</a:t>
            </a:r>
            <a:r>
              <a:rPr lang="en-CA" dirty="0"/>
              <a:t>(‘textbox’); // when a text box is present on the component</a:t>
            </a:r>
          </a:p>
          <a:p>
            <a:endParaRPr lang="en-CA" dirty="0"/>
          </a:p>
          <a:p>
            <a:r>
              <a:rPr lang="en-CA" dirty="0"/>
              <a:t>const </a:t>
            </a:r>
            <a:r>
              <a:rPr lang="en-CA" dirty="0" err="1"/>
              <a:t>comboElement</a:t>
            </a:r>
            <a:r>
              <a:rPr lang="en-CA" dirty="0"/>
              <a:t> = </a:t>
            </a:r>
            <a:r>
              <a:rPr lang="en-CA" dirty="0" err="1"/>
              <a:t>screen.getByRole</a:t>
            </a:r>
            <a:r>
              <a:rPr lang="en-CA" dirty="0"/>
              <a:t>(‘</a:t>
            </a:r>
            <a:r>
              <a:rPr lang="en-CA" dirty="0" err="1"/>
              <a:t>combobox</a:t>
            </a:r>
            <a:r>
              <a:rPr lang="en-CA" dirty="0"/>
              <a:t>’); // where there is a </a:t>
            </a:r>
            <a:r>
              <a:rPr lang="en-CA" dirty="0" err="1"/>
              <a:t>combobox</a:t>
            </a:r>
            <a:r>
              <a:rPr lang="en-CA" dirty="0"/>
              <a:t> in component.</a:t>
            </a:r>
          </a:p>
          <a:p>
            <a:endParaRPr lang="en-CA" dirty="0"/>
          </a:p>
          <a:p>
            <a:r>
              <a:rPr lang="en-CA" dirty="0"/>
              <a:t>const </a:t>
            </a:r>
            <a:r>
              <a:rPr lang="en-CA" dirty="0" err="1"/>
              <a:t>checkBoxElement</a:t>
            </a:r>
            <a:r>
              <a:rPr lang="en-CA" dirty="0"/>
              <a:t> = </a:t>
            </a:r>
            <a:r>
              <a:rPr lang="en-CA" dirty="0" err="1"/>
              <a:t>screen.getByRole</a:t>
            </a:r>
            <a:r>
              <a:rPr lang="en-CA" dirty="0"/>
              <a:t>(‘checkbox’); // where there is a </a:t>
            </a:r>
            <a:r>
              <a:rPr lang="en-CA" dirty="0" err="1"/>
              <a:t>checkBox</a:t>
            </a:r>
            <a:r>
              <a:rPr lang="en-CA" dirty="0"/>
              <a:t> in component.</a:t>
            </a:r>
          </a:p>
          <a:p>
            <a:endParaRPr lang="en-CA" dirty="0"/>
          </a:p>
          <a:p>
            <a:r>
              <a:rPr lang="en-CA" dirty="0"/>
              <a:t>const </a:t>
            </a:r>
            <a:r>
              <a:rPr lang="en-CA" dirty="0" err="1"/>
              <a:t>comboElement</a:t>
            </a:r>
            <a:r>
              <a:rPr lang="en-CA" dirty="0"/>
              <a:t> = </a:t>
            </a:r>
            <a:r>
              <a:rPr lang="en-CA" dirty="0" err="1"/>
              <a:t>screen.getByRole</a:t>
            </a:r>
            <a:r>
              <a:rPr lang="en-CA" dirty="0"/>
              <a:t>(‘</a:t>
            </a:r>
            <a:r>
              <a:rPr lang="en-CA" dirty="0" err="1"/>
              <a:t>combobox</a:t>
            </a:r>
            <a:r>
              <a:rPr lang="en-CA" dirty="0"/>
              <a:t>’); // where there is a </a:t>
            </a:r>
            <a:r>
              <a:rPr lang="en-CA" dirty="0" err="1"/>
              <a:t>combobox</a:t>
            </a:r>
            <a:r>
              <a:rPr lang="en-CA" dirty="0"/>
              <a:t> in component.</a:t>
            </a:r>
          </a:p>
          <a:p>
            <a:endParaRPr lang="en-CA" dirty="0"/>
          </a:p>
          <a:p>
            <a:r>
              <a:rPr lang="en-CA" dirty="0"/>
              <a:t>const </a:t>
            </a:r>
            <a:r>
              <a:rPr lang="en-CA" dirty="0" err="1"/>
              <a:t>submitButton</a:t>
            </a:r>
            <a:r>
              <a:rPr lang="en-CA" dirty="0"/>
              <a:t> = </a:t>
            </a:r>
            <a:r>
              <a:rPr lang="en-CA" dirty="0" err="1"/>
              <a:t>screen.getByRole</a:t>
            </a:r>
            <a:r>
              <a:rPr lang="en-CA" dirty="0"/>
              <a:t>(‘button’);  // where there is a &lt;button&gt; element in the component.</a:t>
            </a:r>
          </a:p>
          <a:p>
            <a:endParaRPr lang="en-CA" dirty="0"/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12748893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E562E7-43BC-30A2-2C69-B82090FE30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What if two elements have the same role?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F631C5-89DC-AF4A-9DBC-1A23DB287A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9997" y="1534098"/>
            <a:ext cx="10728325" cy="4586483"/>
          </a:xfrm>
        </p:spPr>
        <p:txBody>
          <a:bodyPr>
            <a:normAutofit/>
          </a:bodyPr>
          <a:lstStyle/>
          <a:p>
            <a:r>
              <a:rPr lang="en-CA" dirty="0"/>
              <a:t>Interestingly, two elements can have the same role. What to do in this situation?</a:t>
            </a:r>
          </a:p>
          <a:p>
            <a:endParaRPr lang="en-CA" dirty="0"/>
          </a:p>
          <a:p>
            <a:r>
              <a:rPr lang="en-CA" dirty="0"/>
              <a:t>For example: textbox and </a:t>
            </a:r>
            <a:r>
              <a:rPr lang="en-CA" dirty="0" err="1"/>
              <a:t>textarea</a:t>
            </a:r>
            <a:r>
              <a:rPr lang="en-CA" dirty="0"/>
              <a:t> have same roles!</a:t>
            </a:r>
          </a:p>
          <a:p>
            <a:pPr marL="0" indent="0">
              <a:buNone/>
            </a:pPr>
            <a:r>
              <a:rPr lang="en-CA" b="1" dirty="0"/>
              <a:t>Here comes the concept of </a:t>
            </a:r>
            <a:r>
              <a:rPr lang="en-CA" b="1" dirty="0" err="1">
                <a:solidFill>
                  <a:srgbClr val="FFFF00"/>
                </a:solidFill>
              </a:rPr>
              <a:t>getByRole</a:t>
            </a:r>
            <a:r>
              <a:rPr lang="en-CA" b="1" dirty="0">
                <a:solidFill>
                  <a:srgbClr val="FFFF00"/>
                </a:solidFill>
              </a:rPr>
              <a:t> Options:</a:t>
            </a:r>
          </a:p>
          <a:p>
            <a:pPr marL="0" indent="0">
              <a:buNone/>
            </a:pPr>
            <a:r>
              <a:rPr lang="en-CA" dirty="0"/>
              <a:t>name: The accessible name is for simple cases equal to </a:t>
            </a:r>
          </a:p>
          <a:p>
            <a:pPr marL="0" indent="0">
              <a:buNone/>
            </a:pPr>
            <a:r>
              <a:rPr lang="en-CA" dirty="0"/>
              <a:t>	1. the label of a form element</a:t>
            </a:r>
          </a:p>
          <a:p>
            <a:pPr marL="0" indent="0">
              <a:buNone/>
            </a:pPr>
            <a:r>
              <a:rPr lang="en-CA" dirty="0"/>
              <a:t>	2. the text content of  a button or</a:t>
            </a:r>
          </a:p>
          <a:p>
            <a:pPr marL="0" indent="0">
              <a:buNone/>
            </a:pPr>
            <a:r>
              <a:rPr lang="en-CA" dirty="0"/>
              <a:t>	3. the value of the aria-label attribute</a:t>
            </a:r>
          </a:p>
        </p:txBody>
      </p:sp>
    </p:spTree>
    <p:extLst>
      <p:ext uri="{BB962C8B-B14F-4D97-AF65-F5344CB8AC3E}">
        <p14:creationId xmlns:p14="http://schemas.microsoft.com/office/powerpoint/2010/main" val="348398604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657665-0CFA-82CD-B175-E82FFE473B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For example: If we have a textbox and </a:t>
            </a:r>
            <a:r>
              <a:rPr lang="en-CA" dirty="0" err="1"/>
              <a:t>textarea</a:t>
            </a:r>
            <a:r>
              <a:rPr lang="en-CA" dirty="0"/>
              <a:t> together in a form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F0DC85-30CF-F793-AFEC-BF5AD164F9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const </a:t>
            </a:r>
            <a:r>
              <a:rPr lang="en-CA" dirty="0" err="1"/>
              <a:t>nameElement</a:t>
            </a:r>
            <a:r>
              <a:rPr lang="en-CA" dirty="0"/>
              <a:t> = </a:t>
            </a:r>
            <a:r>
              <a:rPr lang="en-CA" dirty="0" err="1"/>
              <a:t>screen.getByRole</a:t>
            </a:r>
            <a:r>
              <a:rPr lang="en-CA" dirty="0"/>
              <a:t>(“textbox”,{</a:t>
            </a:r>
          </a:p>
          <a:p>
            <a:r>
              <a:rPr lang="en-CA" dirty="0"/>
              <a:t>name: “Name”}); // Name being the text of the label attached to the name input field</a:t>
            </a:r>
          </a:p>
          <a:p>
            <a:endParaRPr lang="en-CA" dirty="0"/>
          </a:p>
          <a:p>
            <a:r>
              <a:rPr lang="en-CA" dirty="0"/>
              <a:t>const </a:t>
            </a:r>
            <a:r>
              <a:rPr lang="en-CA" dirty="0" err="1"/>
              <a:t>cityElement</a:t>
            </a:r>
            <a:r>
              <a:rPr lang="en-CA" dirty="0"/>
              <a:t> = </a:t>
            </a:r>
            <a:r>
              <a:rPr lang="en-CA" dirty="0" err="1"/>
              <a:t>screen.getByRole</a:t>
            </a:r>
            <a:r>
              <a:rPr lang="en-CA" dirty="0"/>
              <a:t>(“textbox”,{</a:t>
            </a:r>
          </a:p>
          <a:p>
            <a:r>
              <a:rPr lang="en-CA" dirty="0"/>
              <a:t>name: “City”}); // City being the text of the label attached to the </a:t>
            </a:r>
            <a:r>
              <a:rPr lang="en-CA" dirty="0" err="1"/>
              <a:t>textarea</a:t>
            </a:r>
            <a:r>
              <a:rPr lang="en-CA" dirty="0"/>
              <a:t> field</a:t>
            </a: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79463668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80C810-3F18-C085-D8EF-B2273906DA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Two headings together??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7956AE-32B5-6961-110E-D77C8E9003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9997" y="1534098"/>
            <a:ext cx="10728325" cy="4704702"/>
          </a:xfrm>
        </p:spPr>
        <p:txBody>
          <a:bodyPr>
            <a:normAutofit fontScale="92500" lnSpcReduction="10000"/>
          </a:bodyPr>
          <a:lstStyle/>
          <a:p>
            <a:r>
              <a:rPr lang="en-CA" dirty="0"/>
              <a:t>const </a:t>
            </a:r>
            <a:r>
              <a:rPr lang="en-CA" dirty="0" err="1"/>
              <a:t>pageHeading</a:t>
            </a:r>
            <a:r>
              <a:rPr lang="en-CA" dirty="0"/>
              <a:t> = </a:t>
            </a:r>
            <a:r>
              <a:rPr lang="en-CA" dirty="0" err="1"/>
              <a:t>screen.getByRole</a:t>
            </a:r>
            <a:r>
              <a:rPr lang="en-CA" dirty="0"/>
              <a:t>(“heading”);</a:t>
            </a:r>
          </a:p>
          <a:p>
            <a:endParaRPr lang="en-CA" dirty="0"/>
          </a:p>
          <a:p>
            <a:r>
              <a:rPr lang="en-CA" dirty="0"/>
              <a:t>const </a:t>
            </a:r>
            <a:r>
              <a:rPr lang="en-CA" dirty="0" err="1"/>
              <a:t>pageHeading</a:t>
            </a:r>
            <a:r>
              <a:rPr lang="en-CA" dirty="0"/>
              <a:t> = </a:t>
            </a:r>
            <a:r>
              <a:rPr lang="en-CA" dirty="0" err="1"/>
              <a:t>screen.getByRole</a:t>
            </a:r>
            <a:r>
              <a:rPr lang="en-CA" dirty="0"/>
              <a:t>(“heading”,{</a:t>
            </a:r>
          </a:p>
          <a:p>
            <a:r>
              <a:rPr lang="en-CA" dirty="0" err="1"/>
              <a:t>name:”I</a:t>
            </a:r>
            <a:r>
              <a:rPr lang="en-CA" dirty="0"/>
              <a:t> am Heading 1”}); // I am Heading 1 being the content of the h1..</a:t>
            </a:r>
          </a:p>
          <a:p>
            <a:endParaRPr lang="en-CA" dirty="0"/>
          </a:p>
          <a:p>
            <a:r>
              <a:rPr lang="en-CA" dirty="0"/>
              <a:t>const </a:t>
            </a:r>
            <a:r>
              <a:rPr lang="en-CA" dirty="0" err="1"/>
              <a:t>pageHeading</a:t>
            </a:r>
            <a:r>
              <a:rPr lang="en-CA" dirty="0"/>
              <a:t> = </a:t>
            </a:r>
            <a:r>
              <a:rPr lang="en-CA" dirty="0" err="1"/>
              <a:t>screen.getByRole</a:t>
            </a:r>
            <a:r>
              <a:rPr lang="en-CA" dirty="0"/>
              <a:t>(“heading”,{</a:t>
            </a:r>
          </a:p>
          <a:p>
            <a:r>
              <a:rPr lang="en-CA" dirty="0"/>
              <a:t>level:1}); // for H1</a:t>
            </a:r>
          </a:p>
          <a:p>
            <a:endParaRPr lang="en-CA" dirty="0"/>
          </a:p>
          <a:p>
            <a:r>
              <a:rPr lang="en-CA" dirty="0"/>
              <a:t>const </a:t>
            </a:r>
            <a:r>
              <a:rPr lang="en-CA" dirty="0" err="1"/>
              <a:t>pageHeading</a:t>
            </a:r>
            <a:r>
              <a:rPr lang="en-CA" dirty="0"/>
              <a:t> = </a:t>
            </a:r>
            <a:r>
              <a:rPr lang="en-CA" dirty="0" err="1"/>
              <a:t>screen.getByRole</a:t>
            </a:r>
            <a:r>
              <a:rPr lang="en-CA" dirty="0"/>
              <a:t>(“heading”,{</a:t>
            </a:r>
          </a:p>
          <a:p>
            <a:r>
              <a:rPr lang="en-CA" dirty="0"/>
              <a:t>level:2}); // for H2</a:t>
            </a:r>
          </a:p>
          <a:p>
            <a:endParaRPr lang="en-CA" dirty="0"/>
          </a:p>
          <a:p>
            <a:endParaRPr lang="en-CA" dirty="0"/>
          </a:p>
          <a:p>
            <a:endParaRPr lang="en-CA" dirty="0"/>
          </a:p>
          <a:p>
            <a:endParaRPr lang="en-CA" dirty="0"/>
          </a:p>
          <a:p>
            <a:endParaRPr lang="en-CA" dirty="0"/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52416820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7F91E4-4D89-55B9-4AA5-A6D06F546D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 err="1"/>
              <a:t>getByRole</a:t>
            </a:r>
            <a:r>
              <a:rPr lang="en-CA" dirty="0"/>
              <a:t> Options ..cont.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A8E865-EE25-C751-63E7-4BF1E5023B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3678" y="1534098"/>
            <a:ext cx="10728325" cy="3227375"/>
          </a:xfrm>
        </p:spPr>
        <p:txBody>
          <a:bodyPr/>
          <a:lstStyle/>
          <a:p>
            <a:r>
              <a:rPr lang="en-CA" dirty="0"/>
              <a:t>name</a:t>
            </a:r>
          </a:p>
          <a:p>
            <a:r>
              <a:rPr lang="en-CA" dirty="0"/>
              <a:t>level</a:t>
            </a:r>
          </a:p>
          <a:p>
            <a:r>
              <a:rPr lang="en-CA" dirty="0"/>
              <a:t>hidden</a:t>
            </a:r>
          </a:p>
          <a:p>
            <a:r>
              <a:rPr lang="en-CA" dirty="0"/>
              <a:t>selected</a:t>
            </a:r>
          </a:p>
          <a:p>
            <a:r>
              <a:rPr lang="en-CA" dirty="0"/>
              <a:t>checked</a:t>
            </a:r>
          </a:p>
          <a:p>
            <a:r>
              <a:rPr lang="en-CA" dirty="0"/>
              <a:t>pressed</a:t>
            </a:r>
          </a:p>
        </p:txBody>
      </p:sp>
    </p:spTree>
    <p:extLst>
      <p:ext uri="{BB962C8B-B14F-4D97-AF65-F5344CB8AC3E}">
        <p14:creationId xmlns:p14="http://schemas.microsoft.com/office/powerpoint/2010/main" val="237364206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3BB0E6-5C37-C17A-D514-3636470A7A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619200"/>
            <a:ext cx="10728322" cy="796645"/>
          </a:xfrm>
        </p:spPr>
        <p:txBody>
          <a:bodyPr/>
          <a:lstStyle/>
          <a:p>
            <a:r>
              <a:rPr lang="en-CA" dirty="0" err="1"/>
              <a:t>getByLabelText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B58B18-1F36-C414-43B0-B560D2408E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837" y="1597703"/>
            <a:ext cx="10728325" cy="4641097"/>
          </a:xfrm>
        </p:spPr>
        <p:txBody>
          <a:bodyPr>
            <a:normAutofit lnSpcReduction="10000"/>
          </a:bodyPr>
          <a:lstStyle/>
          <a:p>
            <a:r>
              <a:rPr lang="en-CA" dirty="0" err="1"/>
              <a:t>getByLabelText</a:t>
            </a:r>
            <a:r>
              <a:rPr lang="en-CA" dirty="0"/>
              <a:t> will search for the label that matches the given text, then find the element associated with the label.</a:t>
            </a:r>
          </a:p>
          <a:p>
            <a:r>
              <a:rPr lang="en-CA" dirty="0"/>
              <a:t>Its same as applying “name” with </a:t>
            </a:r>
            <a:r>
              <a:rPr lang="en-CA" dirty="0" err="1"/>
              <a:t>getByRole</a:t>
            </a:r>
            <a:r>
              <a:rPr lang="en-CA" dirty="0"/>
              <a:t>.. </a:t>
            </a:r>
          </a:p>
          <a:p>
            <a:r>
              <a:rPr lang="en-CA" dirty="0"/>
              <a:t>[by using </a:t>
            </a:r>
            <a:r>
              <a:rPr lang="en-CA" dirty="0" err="1"/>
              <a:t>getByRole</a:t>
            </a:r>
            <a:r>
              <a:rPr lang="en-CA" dirty="0"/>
              <a:t> with option “name”]</a:t>
            </a:r>
          </a:p>
          <a:p>
            <a:pPr marL="0" indent="0">
              <a:buNone/>
            </a:pPr>
            <a:r>
              <a:rPr lang="en-CA" dirty="0"/>
              <a:t>const </a:t>
            </a:r>
            <a:r>
              <a:rPr lang="en-CA" dirty="0" err="1"/>
              <a:t>nameElement</a:t>
            </a:r>
            <a:r>
              <a:rPr lang="en-CA" dirty="0"/>
              <a:t> = </a:t>
            </a:r>
            <a:r>
              <a:rPr lang="en-CA" dirty="0" err="1"/>
              <a:t>screen.getByRole</a:t>
            </a:r>
            <a:r>
              <a:rPr lang="en-CA" dirty="0"/>
              <a:t>(“textbox”,{</a:t>
            </a:r>
          </a:p>
          <a:p>
            <a:r>
              <a:rPr lang="en-CA" dirty="0"/>
              <a:t>name: “Name”}); // Name being the text of the label attached to the name input field</a:t>
            </a:r>
          </a:p>
          <a:p>
            <a:endParaRPr lang="en-CA" dirty="0"/>
          </a:p>
          <a:p>
            <a:pPr marL="0" indent="0">
              <a:buNone/>
            </a:pPr>
            <a:r>
              <a:rPr lang="en-CA" dirty="0"/>
              <a:t>const nameElement2 = </a:t>
            </a:r>
            <a:r>
              <a:rPr lang="en-CA" dirty="0" err="1"/>
              <a:t>screen.getByLabelText</a:t>
            </a:r>
            <a:r>
              <a:rPr lang="en-CA" dirty="0"/>
              <a:t>(“Name” )// Name being the text of the label attached to the name input field</a:t>
            </a:r>
          </a:p>
          <a:p>
            <a:endParaRPr lang="en-CA" dirty="0"/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96964974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9B1C69-96C7-5D41-4308-7F1803AA57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 err="1"/>
              <a:t>getByPlaceHolderText</a:t>
            </a:r>
            <a:r>
              <a:rPr lang="en-CA" dirty="0"/>
              <a:t> &amp; </a:t>
            </a:r>
            <a:r>
              <a:rPr lang="en-CA" dirty="0" err="1"/>
              <a:t>getByText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746AE6-C95E-62BD-E20F-A691CAFAB8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 err="1"/>
              <a:t>getByPlaceHolderText</a:t>
            </a:r>
            <a:r>
              <a:rPr lang="en-CA" dirty="0"/>
              <a:t>()</a:t>
            </a:r>
          </a:p>
          <a:p>
            <a:r>
              <a:rPr lang="en-CA" dirty="0"/>
              <a:t>Finds the element with the given </a:t>
            </a:r>
            <a:r>
              <a:rPr lang="en-CA" dirty="0" err="1"/>
              <a:t>PlaceHolderText</a:t>
            </a:r>
            <a:r>
              <a:rPr lang="en-CA" dirty="0"/>
              <a:t>!</a:t>
            </a:r>
          </a:p>
          <a:p>
            <a:endParaRPr lang="en-CA" dirty="0"/>
          </a:p>
          <a:p>
            <a:r>
              <a:rPr lang="en-CA" dirty="0" err="1"/>
              <a:t>getByText</a:t>
            </a:r>
            <a:r>
              <a:rPr lang="en-CA" dirty="0"/>
              <a:t>(“given text”);</a:t>
            </a:r>
          </a:p>
          <a:p>
            <a:r>
              <a:rPr lang="en-CA" dirty="0"/>
              <a:t>Finds the element with this text!</a:t>
            </a: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405913392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714008-3EB5-0D11-A494-5CF561C1AB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 err="1"/>
              <a:t>getByDisplayValue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0DB05E-DEC5-EA7F-22CC-5CF76D21A1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2013" y="1815312"/>
            <a:ext cx="10728325" cy="3227375"/>
          </a:xfrm>
        </p:spPr>
        <p:txBody>
          <a:bodyPr/>
          <a:lstStyle/>
          <a:p>
            <a:r>
              <a:rPr lang="en-CA" dirty="0" err="1"/>
              <a:t>getByDisplayValue</a:t>
            </a:r>
            <a:r>
              <a:rPr lang="en-CA" dirty="0"/>
              <a:t> returns the input, </a:t>
            </a:r>
            <a:r>
              <a:rPr lang="en-CA" dirty="0" err="1"/>
              <a:t>textarea</a:t>
            </a:r>
            <a:r>
              <a:rPr lang="en-CA" dirty="0"/>
              <a:t>, or select element that has the matching display value.</a:t>
            </a:r>
          </a:p>
          <a:p>
            <a:endParaRPr lang="en-CA" dirty="0"/>
          </a:p>
          <a:p>
            <a:r>
              <a:rPr lang="en-CA" dirty="0"/>
              <a:t>To demo this:</a:t>
            </a:r>
          </a:p>
          <a:p>
            <a:r>
              <a:rPr lang="en-CA" dirty="0"/>
              <a:t>Assign a value attribute to the input box: We might get a warning here, if yes, let’s add a </a:t>
            </a:r>
            <a:r>
              <a:rPr lang="en-CA" dirty="0" err="1"/>
              <a:t>onChange</a:t>
            </a:r>
            <a:r>
              <a:rPr lang="en-CA" dirty="0"/>
              <a:t>() handler to the element too. </a:t>
            </a: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15384105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6B51A5-972F-9C49-B842-F83E3CF8F0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 err="1"/>
              <a:t>getByAltText</a:t>
            </a:r>
            <a:r>
              <a:rPr lang="en-CA" dirty="0"/>
              <a:t>( 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A78516-B7A7-2979-0A3A-3AEFE8B6D5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 err="1"/>
              <a:t>getByAltText</a:t>
            </a:r>
            <a:r>
              <a:rPr lang="en-CA" dirty="0"/>
              <a:t> will find the element with the given Alt text with </a:t>
            </a:r>
            <a:r>
              <a:rPr lang="en-CA" dirty="0" err="1"/>
              <a:t>img</a:t>
            </a:r>
            <a:r>
              <a:rPr lang="en-CA" dirty="0"/>
              <a:t>!</a:t>
            </a:r>
          </a:p>
          <a:p>
            <a:r>
              <a:rPr lang="en-CA" dirty="0"/>
              <a:t>We can test after bringing up an </a:t>
            </a:r>
            <a:r>
              <a:rPr lang="en-CA" dirty="0" err="1"/>
              <a:t>img</a:t>
            </a:r>
            <a:r>
              <a:rPr lang="en-CA" dirty="0"/>
              <a:t> in our form</a:t>
            </a:r>
          </a:p>
        </p:txBody>
      </p:sp>
    </p:spTree>
    <p:extLst>
      <p:ext uri="{BB962C8B-B14F-4D97-AF65-F5344CB8AC3E}">
        <p14:creationId xmlns:p14="http://schemas.microsoft.com/office/powerpoint/2010/main" val="408374742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DD13FB-94AF-C687-3A10-2941EE07DE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 err="1"/>
              <a:t>getByTitle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6F8165-5C8E-2898-9916-4EE9FAF7AB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Returns the element that has matching title attribute..</a:t>
            </a:r>
          </a:p>
          <a:p>
            <a:endParaRPr lang="en-CA" dirty="0"/>
          </a:p>
          <a:p>
            <a:r>
              <a:rPr lang="en-CA" dirty="0"/>
              <a:t>To demo apply “title” attribute to any of the elements, and access it.</a:t>
            </a:r>
          </a:p>
        </p:txBody>
      </p:sp>
    </p:spTree>
    <p:extLst>
      <p:ext uri="{BB962C8B-B14F-4D97-AF65-F5344CB8AC3E}">
        <p14:creationId xmlns:p14="http://schemas.microsoft.com/office/powerpoint/2010/main" val="336241764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4589B2-1849-18FB-CE72-03A182861D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 err="1"/>
              <a:t>getByTestId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9170E7-078B-FF82-7532-EDF38E5778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Matching data-</a:t>
            </a:r>
            <a:r>
              <a:rPr lang="en-CA" dirty="0" err="1"/>
              <a:t>testid</a:t>
            </a:r>
            <a:r>
              <a:rPr lang="en-CA" dirty="0"/>
              <a:t>=“any” !</a:t>
            </a:r>
          </a:p>
        </p:txBody>
      </p:sp>
    </p:spTree>
    <p:extLst>
      <p:ext uri="{BB962C8B-B14F-4D97-AF65-F5344CB8AC3E}">
        <p14:creationId xmlns:p14="http://schemas.microsoft.com/office/powerpoint/2010/main" val="388484644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A77055-9658-5F0E-AC9A-173D109B24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619200"/>
            <a:ext cx="10728322" cy="870387"/>
          </a:xfrm>
        </p:spPr>
        <p:txBody>
          <a:bodyPr/>
          <a:lstStyle/>
          <a:p>
            <a:r>
              <a:rPr lang="en-CA" dirty="0"/>
              <a:t>Priority Order for Queries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D5DD71-41EC-85F0-98BB-B765D7D3A5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000" y="1356852"/>
            <a:ext cx="10728325" cy="4412123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CA" dirty="0"/>
              <a:t>“Your test should resemble how users interact with your code(component, page, etc.) as much as possible”</a:t>
            </a:r>
          </a:p>
          <a:p>
            <a:pPr marL="0" indent="0">
              <a:buNone/>
            </a:pPr>
            <a:r>
              <a:rPr lang="en-CA" dirty="0"/>
              <a:t>1.getByRole</a:t>
            </a:r>
          </a:p>
          <a:p>
            <a:pPr marL="0" indent="0">
              <a:buNone/>
            </a:pPr>
            <a:r>
              <a:rPr lang="en-CA" dirty="0"/>
              <a:t>2.getByLabelText</a:t>
            </a:r>
          </a:p>
          <a:p>
            <a:pPr marL="0" indent="0">
              <a:buNone/>
            </a:pPr>
            <a:r>
              <a:rPr lang="en-CA" dirty="0"/>
              <a:t>3.getByPlaceholderText</a:t>
            </a:r>
          </a:p>
          <a:p>
            <a:pPr marL="0" indent="0">
              <a:buNone/>
            </a:pPr>
            <a:r>
              <a:rPr lang="en-CA" dirty="0"/>
              <a:t>4.getByText</a:t>
            </a:r>
          </a:p>
          <a:p>
            <a:pPr marL="0" indent="0">
              <a:buNone/>
            </a:pPr>
            <a:r>
              <a:rPr lang="en-CA" dirty="0"/>
              <a:t>5.getByDisplayValue</a:t>
            </a:r>
          </a:p>
          <a:p>
            <a:pPr marL="0" indent="0">
              <a:buNone/>
            </a:pPr>
            <a:r>
              <a:rPr lang="en-CA" dirty="0"/>
              <a:t>6.getByAltText</a:t>
            </a:r>
          </a:p>
          <a:p>
            <a:pPr marL="0" indent="0">
              <a:buNone/>
            </a:pPr>
            <a:r>
              <a:rPr lang="en-CA" dirty="0"/>
              <a:t>7.getByTitle</a:t>
            </a:r>
          </a:p>
          <a:p>
            <a:pPr marL="0" indent="0">
              <a:buNone/>
            </a:pPr>
            <a:r>
              <a:rPr lang="en-CA" dirty="0"/>
              <a:t>8.getByTestId</a:t>
            </a:r>
          </a:p>
        </p:txBody>
      </p:sp>
    </p:spTree>
    <p:extLst>
      <p:ext uri="{BB962C8B-B14F-4D97-AF65-F5344CB8AC3E}">
        <p14:creationId xmlns:p14="http://schemas.microsoft.com/office/powerpoint/2010/main" val="24866344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7F11AB-3A75-3457-949E-D5A06362D9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RTL </a:t>
            </a:r>
            <a:r>
              <a:rPr lang="en-CA" dirty="0" err="1"/>
              <a:t>getAllBy</a:t>
            </a:r>
            <a:r>
              <a:rPr lang="en-CA" dirty="0"/>
              <a:t> Queries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F701B4-7160-E783-19CA-BF633DA495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Find multiple elements in the DOM</a:t>
            </a:r>
          </a:p>
          <a:p>
            <a:endParaRPr lang="en-CA" dirty="0"/>
          </a:p>
          <a:p>
            <a:r>
              <a:rPr lang="en-CA" dirty="0" err="1"/>
              <a:t>getAllBy</a:t>
            </a:r>
            <a:r>
              <a:rPr lang="en-CA" dirty="0"/>
              <a:t> returns an array of all matching nodes for a query, and throws an error if no elements match</a:t>
            </a:r>
          </a:p>
          <a:p>
            <a:endParaRPr lang="en-CA" dirty="0"/>
          </a:p>
          <a:p>
            <a:r>
              <a:rPr lang="en-CA" dirty="0"/>
              <a:t>The methods will be same as </a:t>
            </a:r>
            <a:r>
              <a:rPr lang="en-CA" dirty="0" err="1"/>
              <a:t>getBy</a:t>
            </a:r>
            <a:r>
              <a:rPr lang="en-CA" dirty="0"/>
              <a:t>..</a:t>
            </a:r>
          </a:p>
        </p:txBody>
      </p:sp>
    </p:spTree>
    <p:extLst>
      <p:ext uri="{BB962C8B-B14F-4D97-AF65-F5344CB8AC3E}">
        <p14:creationId xmlns:p14="http://schemas.microsoft.com/office/powerpoint/2010/main" val="391816013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630632-F8E9-6352-AC87-20AF294F45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Let’s use </a:t>
            </a:r>
            <a:r>
              <a:rPr lang="en-CA" dirty="0" err="1"/>
              <a:t>getAllBy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4A966A-CD35-E6DD-A2D0-9F3C172BF0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Demo of </a:t>
            </a:r>
            <a:r>
              <a:rPr lang="en-CA" dirty="0" err="1"/>
              <a:t>getAllBy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14332931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D89AD9-E454-D513-5B3D-E2091D47ED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What is </a:t>
            </a:r>
            <a:r>
              <a:rPr lang="en-CA" dirty="0" err="1"/>
              <a:t>TextMatch</a:t>
            </a:r>
            <a:r>
              <a:rPr lang="en-CA" dirty="0"/>
              <a:t>? – The first argument to the query 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935028-A6D6-82D1-F66F-75807CA104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9997" y="1946789"/>
            <a:ext cx="10728325" cy="4441620"/>
          </a:xfrm>
        </p:spPr>
        <p:txBody>
          <a:bodyPr/>
          <a:lstStyle/>
          <a:p>
            <a:r>
              <a:rPr lang="en-CA" dirty="0"/>
              <a:t>It represents a type can be either</a:t>
            </a:r>
          </a:p>
          <a:p>
            <a:pPr lvl="1"/>
            <a:r>
              <a:rPr lang="en-CA" dirty="0"/>
              <a:t>A string</a:t>
            </a:r>
          </a:p>
          <a:p>
            <a:pPr lvl="1"/>
            <a:r>
              <a:rPr lang="en-CA" dirty="0"/>
              <a:t>Regex</a:t>
            </a:r>
          </a:p>
          <a:p>
            <a:pPr lvl="1"/>
            <a:r>
              <a:rPr lang="en-CA" dirty="0"/>
              <a:t>function</a:t>
            </a:r>
          </a:p>
        </p:txBody>
      </p:sp>
    </p:spTree>
    <p:extLst>
      <p:ext uri="{BB962C8B-B14F-4D97-AF65-F5344CB8AC3E}">
        <p14:creationId xmlns:p14="http://schemas.microsoft.com/office/powerpoint/2010/main" val="363264657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67570C-35C0-7FDE-D768-20618FBAF9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 err="1"/>
              <a:t>TextMatch</a:t>
            </a:r>
            <a:r>
              <a:rPr lang="en-CA" dirty="0"/>
              <a:t> - string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8000E5-2C0D-B397-669C-9C75DA3C05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&lt;div&gt;Hello World&lt;/div&gt;</a:t>
            </a:r>
          </a:p>
          <a:p>
            <a:r>
              <a:rPr lang="en-CA" dirty="0" err="1"/>
              <a:t>screen.getByText</a:t>
            </a:r>
            <a:r>
              <a:rPr lang="en-CA" dirty="0"/>
              <a:t>(“Hello World”); // full string match</a:t>
            </a:r>
          </a:p>
          <a:p>
            <a:r>
              <a:rPr lang="en-CA" dirty="0" err="1"/>
              <a:t>screen.getByText</a:t>
            </a:r>
            <a:r>
              <a:rPr lang="en-CA" dirty="0"/>
              <a:t>(“</a:t>
            </a:r>
            <a:r>
              <a:rPr lang="en-CA" dirty="0" err="1"/>
              <a:t>llo</a:t>
            </a:r>
            <a:r>
              <a:rPr lang="en-CA" dirty="0"/>
              <a:t> </a:t>
            </a:r>
            <a:r>
              <a:rPr lang="en-CA" dirty="0" err="1"/>
              <a:t>Worl</a:t>
            </a:r>
            <a:r>
              <a:rPr lang="en-CA" dirty="0"/>
              <a:t>”,{</a:t>
            </a:r>
            <a:r>
              <a:rPr lang="en-CA" dirty="0" err="1"/>
              <a:t>exact:false</a:t>
            </a:r>
            <a:r>
              <a:rPr lang="en-CA" dirty="0"/>
              <a:t>}); // sub string match</a:t>
            </a:r>
          </a:p>
          <a:p>
            <a:r>
              <a:rPr lang="en-CA" dirty="0" err="1"/>
              <a:t>screen.getByText</a:t>
            </a:r>
            <a:r>
              <a:rPr lang="en-CA" dirty="0"/>
              <a:t>(“hello world”,{</a:t>
            </a:r>
            <a:r>
              <a:rPr lang="en-CA" dirty="0" err="1"/>
              <a:t>exact:false</a:t>
            </a:r>
            <a:r>
              <a:rPr lang="en-CA" dirty="0"/>
              <a:t>}); // ignore case</a:t>
            </a: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01290231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8E98B3-E931-239A-8FD3-D6DE4B235F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 err="1"/>
              <a:t>TextMatch</a:t>
            </a:r>
            <a:r>
              <a:rPr lang="en-CA" dirty="0"/>
              <a:t> - regex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992655-82F5-FC9B-0569-15F28F65F3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000" y="2571096"/>
            <a:ext cx="10728325" cy="3227375"/>
          </a:xfrm>
        </p:spPr>
        <p:txBody>
          <a:bodyPr/>
          <a:lstStyle/>
          <a:p>
            <a:r>
              <a:rPr lang="en-CA" dirty="0"/>
              <a:t>&lt;div&gt;Hello World&lt;/div&gt;</a:t>
            </a:r>
          </a:p>
          <a:p>
            <a:r>
              <a:rPr lang="en-CA" dirty="0" err="1"/>
              <a:t>screen.getByText</a:t>
            </a:r>
            <a:r>
              <a:rPr lang="en-CA" dirty="0"/>
              <a:t>(/World/); //  substring match</a:t>
            </a:r>
          </a:p>
          <a:p>
            <a:r>
              <a:rPr lang="en-CA" dirty="0" err="1"/>
              <a:t>screen.getByText</a:t>
            </a:r>
            <a:r>
              <a:rPr lang="en-CA" dirty="0"/>
              <a:t>(/world/</a:t>
            </a:r>
            <a:r>
              <a:rPr lang="en-CA" dirty="0" err="1"/>
              <a:t>i</a:t>
            </a:r>
            <a:r>
              <a:rPr lang="en-CA" dirty="0"/>
              <a:t>); // sub string match</a:t>
            </a:r>
          </a:p>
          <a:p>
            <a:r>
              <a:rPr lang="en-CA" dirty="0" err="1"/>
              <a:t>screen.getByText</a:t>
            </a:r>
            <a:r>
              <a:rPr lang="en-CA" dirty="0"/>
              <a:t>(/hello world$/</a:t>
            </a:r>
            <a:r>
              <a:rPr lang="en-CA" dirty="0" err="1"/>
              <a:t>i</a:t>
            </a:r>
            <a:r>
              <a:rPr lang="en-CA" dirty="0"/>
              <a:t>); // ignore case</a:t>
            </a: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36371104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53341B-CC1D-7362-C4F6-129BD5E5C9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 err="1"/>
              <a:t>TextMatch</a:t>
            </a:r>
            <a:r>
              <a:rPr lang="en-CA" dirty="0"/>
              <a:t> – custom function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9862EC-70A9-C4B4-8C25-C376561793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&lt;div&gt;Hello World&lt;/div&gt;</a:t>
            </a:r>
          </a:p>
          <a:p>
            <a:endParaRPr lang="en-CA" dirty="0"/>
          </a:p>
          <a:p>
            <a:r>
              <a:rPr lang="en-CA" dirty="0" err="1"/>
              <a:t>screen.getByText</a:t>
            </a:r>
            <a:r>
              <a:rPr lang="en-CA" dirty="0"/>
              <a:t>((content)=&gt;</a:t>
            </a:r>
            <a:r>
              <a:rPr lang="en-CA" dirty="0" err="1"/>
              <a:t>content.startsWith</a:t>
            </a:r>
            <a:r>
              <a:rPr lang="en-CA" dirty="0"/>
              <a:t>(“Hello”))</a:t>
            </a:r>
          </a:p>
          <a:p>
            <a:endParaRPr lang="en-CA" dirty="0"/>
          </a:p>
          <a:p>
            <a:r>
              <a:rPr lang="en-CA" dirty="0"/>
              <a:t>Practice each of the substring, regex matching in our code example we are doing..</a:t>
            </a:r>
          </a:p>
        </p:txBody>
      </p:sp>
    </p:spTree>
    <p:extLst>
      <p:ext uri="{BB962C8B-B14F-4D97-AF65-F5344CB8AC3E}">
        <p14:creationId xmlns:p14="http://schemas.microsoft.com/office/powerpoint/2010/main" val="350347015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0EC46A-3D99-C5CD-FAD7-BE8B985BFB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How to check if something is not there on component!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902E3C-2F8E-D676-C17E-0A38DCC9F5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We use following to check if something is not in the component</a:t>
            </a:r>
          </a:p>
          <a:p>
            <a:endParaRPr lang="en-CA" dirty="0"/>
          </a:p>
          <a:p>
            <a:r>
              <a:rPr lang="en-CA" dirty="0" err="1"/>
              <a:t>getRoleBy</a:t>
            </a:r>
            <a:r>
              <a:rPr lang="en-CA" dirty="0"/>
              <a:t> or </a:t>
            </a:r>
            <a:r>
              <a:rPr lang="en-CA" dirty="0" err="1"/>
              <a:t>getAllRoleBy</a:t>
            </a:r>
            <a:r>
              <a:rPr lang="en-CA" dirty="0"/>
              <a:t> throw error when don’t find an element</a:t>
            </a:r>
          </a:p>
          <a:p>
            <a:endParaRPr lang="en-CA" dirty="0"/>
          </a:p>
          <a:p>
            <a:r>
              <a:rPr lang="en-CA" dirty="0"/>
              <a:t>So here comes the concept of </a:t>
            </a:r>
            <a:r>
              <a:rPr lang="en-CA" dirty="0" err="1"/>
              <a:t>queryBy</a:t>
            </a:r>
            <a:r>
              <a:rPr lang="en-CA" dirty="0"/>
              <a:t> and </a:t>
            </a:r>
            <a:r>
              <a:rPr lang="en-CA" dirty="0" err="1"/>
              <a:t>queryAllBy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66465237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BE183D-3D26-55B4-B53F-5C40947F7E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 err="1"/>
              <a:t>queryBy</a:t>
            </a:r>
            <a:r>
              <a:rPr lang="en-CA" dirty="0"/>
              <a:t> and </a:t>
            </a:r>
            <a:r>
              <a:rPr lang="en-CA" dirty="0" err="1"/>
              <a:t>queryAllBy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EA6B44-E5F3-9BA6-AD03-608B971C41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 err="1"/>
              <a:t>queryBy</a:t>
            </a:r>
            <a:endParaRPr lang="en-CA" dirty="0"/>
          </a:p>
          <a:p>
            <a:pPr lvl="1"/>
            <a:r>
              <a:rPr lang="en-CA" dirty="0"/>
              <a:t>Returns the matching node for a query, and return null if no elements match</a:t>
            </a:r>
          </a:p>
          <a:p>
            <a:pPr lvl="1"/>
            <a:r>
              <a:rPr lang="en-CA" dirty="0"/>
              <a:t>Useful for asserting </a:t>
            </a:r>
            <a:r>
              <a:rPr lang="en-CA" dirty="0">
                <a:solidFill>
                  <a:srgbClr val="FFFF00"/>
                </a:solidFill>
              </a:rPr>
              <a:t>an </a:t>
            </a:r>
            <a:r>
              <a:rPr lang="en-CA" b="1" dirty="0">
                <a:solidFill>
                  <a:srgbClr val="FFFF00"/>
                </a:solidFill>
              </a:rPr>
              <a:t>element that is not present</a:t>
            </a:r>
          </a:p>
          <a:p>
            <a:pPr lvl="1"/>
            <a:r>
              <a:rPr lang="en-CA" dirty="0"/>
              <a:t>Throws an error if more than one match is found</a:t>
            </a:r>
          </a:p>
          <a:p>
            <a:r>
              <a:rPr lang="en-CA" dirty="0" err="1"/>
              <a:t>queryAllBy</a:t>
            </a:r>
            <a:endParaRPr lang="en-CA" dirty="0"/>
          </a:p>
          <a:p>
            <a:pPr lvl="1"/>
            <a:r>
              <a:rPr lang="en-CA" dirty="0"/>
              <a:t>Returns an array of all matching nodes for a query, and return an empty array if no elements match</a:t>
            </a:r>
          </a:p>
        </p:txBody>
      </p:sp>
    </p:spTree>
    <p:extLst>
      <p:ext uri="{BB962C8B-B14F-4D97-AF65-F5344CB8AC3E}">
        <p14:creationId xmlns:p14="http://schemas.microsoft.com/office/powerpoint/2010/main" val="404067423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C34B32-4875-6C19-1E4B-71E28F77AC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Appearance/Disappearance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8802AC-07D1-D6AD-2C35-FFB1585F3E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What if elements are not present in the DOM to begin but make their way into the DOM after some time?</a:t>
            </a:r>
          </a:p>
          <a:p>
            <a:endParaRPr lang="en-CA" dirty="0"/>
          </a:p>
          <a:p>
            <a:r>
              <a:rPr lang="en-CA" dirty="0"/>
              <a:t>For example, data that is fetched from a server will be rendered only after a few milliseconds.</a:t>
            </a:r>
          </a:p>
          <a:p>
            <a:endParaRPr lang="en-CA" dirty="0"/>
          </a:p>
          <a:p>
            <a:r>
              <a:rPr lang="en-CA" dirty="0"/>
              <a:t>Let’s see if </a:t>
            </a:r>
            <a:r>
              <a:rPr lang="en-CA" dirty="0" err="1"/>
              <a:t>getByRole</a:t>
            </a:r>
            <a:r>
              <a:rPr lang="en-CA" dirty="0"/>
              <a:t> is a good fit in this situation! NOT</a:t>
            </a:r>
          </a:p>
        </p:txBody>
      </p:sp>
    </p:spTree>
    <p:extLst>
      <p:ext uri="{BB962C8B-B14F-4D97-AF65-F5344CB8AC3E}">
        <p14:creationId xmlns:p14="http://schemas.microsoft.com/office/powerpoint/2010/main" val="171796193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E0C6BE-447E-4803-6781-8305979492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 err="1"/>
              <a:t>findBy</a:t>
            </a:r>
            <a:r>
              <a:rPr lang="en-CA" dirty="0"/>
              <a:t> and </a:t>
            </a:r>
            <a:r>
              <a:rPr lang="en-CA" dirty="0" err="1"/>
              <a:t>findAllBy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9080A3-FCD7-DFBA-3973-7FE4ED7A07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CA" dirty="0" err="1"/>
              <a:t>findBy</a:t>
            </a:r>
            <a:r>
              <a:rPr lang="en-CA" dirty="0"/>
              <a:t>:</a:t>
            </a:r>
          </a:p>
          <a:p>
            <a:pPr lvl="1"/>
            <a:r>
              <a:rPr lang="en-CA" dirty="0"/>
              <a:t>Returns </a:t>
            </a:r>
            <a:r>
              <a:rPr lang="en-CA" b="1" dirty="0"/>
              <a:t>a Promise </a:t>
            </a:r>
            <a:r>
              <a:rPr lang="en-CA" dirty="0"/>
              <a:t>which resolves when an element is found which matches the given query</a:t>
            </a:r>
          </a:p>
          <a:p>
            <a:pPr lvl="1"/>
            <a:r>
              <a:rPr lang="en-CA" dirty="0"/>
              <a:t>The promise is rejected if no element is found or if more than one element is found after a default timeout of 1000ms.</a:t>
            </a:r>
          </a:p>
          <a:p>
            <a:r>
              <a:rPr lang="en-CA" dirty="0" err="1"/>
              <a:t>findAllBy</a:t>
            </a:r>
            <a:endParaRPr lang="en-CA" dirty="0"/>
          </a:p>
          <a:p>
            <a:pPr lvl="1"/>
            <a:r>
              <a:rPr lang="en-CA" dirty="0"/>
              <a:t>Returns a promise which resolves to an array of elements when any elements are found which match the given query</a:t>
            </a:r>
          </a:p>
          <a:p>
            <a:pPr lvl="1"/>
            <a:r>
              <a:rPr lang="en-CA" dirty="0"/>
              <a:t>The promise is rejected if no elements are found after a default timeout of 1000ms.</a:t>
            </a:r>
          </a:p>
        </p:txBody>
      </p:sp>
    </p:spTree>
    <p:extLst>
      <p:ext uri="{BB962C8B-B14F-4D97-AF65-F5344CB8AC3E}">
        <p14:creationId xmlns:p14="http://schemas.microsoft.com/office/powerpoint/2010/main" val="428444084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CDDFC4-DC26-909B-9216-54474D1FA8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To increase the timeout!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795A06-A300-8C78-33AD-9D6911FFC7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{timeout:2000} for example:</a:t>
            </a:r>
          </a:p>
        </p:txBody>
      </p:sp>
    </p:spTree>
    <p:extLst>
      <p:ext uri="{BB962C8B-B14F-4D97-AF65-F5344CB8AC3E}">
        <p14:creationId xmlns:p14="http://schemas.microsoft.com/office/powerpoint/2010/main" val="369125585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9C1CD3-CCC2-5D52-3120-FB398ABF90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User interactions!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C3583F-B017-9E46-0B70-3258CAFAC2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A click using a mouse or a keypress using a keyboard</a:t>
            </a:r>
          </a:p>
          <a:p>
            <a:r>
              <a:rPr lang="en-CA" dirty="0"/>
              <a:t>Software has to respond to such interactions</a:t>
            </a:r>
          </a:p>
          <a:p>
            <a:r>
              <a:rPr lang="en-CA" dirty="0"/>
              <a:t>Tests should ensure the interactions are handled as expected.</a:t>
            </a: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13067549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3AE5CE-A2BB-FFAF-F297-79CD8B5924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user-event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995BDC-B04D-84D0-09C6-03A8208575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A companion library for Testing Library that simulates user interactions by dispatching the events that would happen if the interaction took place in a browser</a:t>
            </a:r>
          </a:p>
          <a:p>
            <a:endParaRPr lang="en-CA" dirty="0"/>
          </a:p>
          <a:p>
            <a:r>
              <a:rPr lang="en-CA" dirty="0"/>
              <a:t>It is the recommended way to test user interactions with RTL.</a:t>
            </a:r>
          </a:p>
          <a:p>
            <a:endParaRPr lang="en-CA" dirty="0"/>
          </a:p>
          <a:p>
            <a:r>
              <a:rPr lang="en-US" b="0" i="0" dirty="0" err="1">
                <a:solidFill>
                  <a:srgbClr val="FFFFFF"/>
                </a:solidFill>
                <a:effectLst/>
                <a:latin typeface="Söhne Mono"/>
              </a:rPr>
              <a:t>npm</a:t>
            </a:r>
            <a:r>
              <a:rPr lang="en-US" b="0" i="0" dirty="0">
                <a:solidFill>
                  <a:srgbClr val="FFFFFF"/>
                </a:solidFill>
                <a:effectLst/>
                <a:latin typeface="Söhne Mono"/>
              </a:rPr>
              <a:t> install @testing-library/user-event@latest</a:t>
            </a:r>
            <a:br>
              <a:rPr lang="en-CA" dirty="0">
                <a:solidFill>
                  <a:srgbClr val="FFFFFF"/>
                </a:solidFill>
                <a:latin typeface="Söhne Mono"/>
              </a:rPr>
            </a:br>
            <a:r>
              <a:rPr lang="en-CA" dirty="0">
                <a:solidFill>
                  <a:srgbClr val="FFFFFF"/>
                </a:solidFill>
                <a:latin typeface="Söhne Mono"/>
              </a:rPr>
              <a:t>Run above command to update to the latest version of user-event library</a:t>
            </a:r>
            <a:endParaRPr lang="en-CA" dirty="0"/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85529172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159CB8-C6B3-64C0-7DEF-0352697362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Pointer Interactions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750A3E-1631-19EE-56D7-AA98A51290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Let’s see pointer interactions in action!</a:t>
            </a:r>
          </a:p>
        </p:txBody>
      </p:sp>
    </p:spTree>
    <p:extLst>
      <p:ext uri="{BB962C8B-B14F-4D97-AF65-F5344CB8AC3E}">
        <p14:creationId xmlns:p14="http://schemas.microsoft.com/office/powerpoint/2010/main" val="413647061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274ECE-40DF-D3D4-45C2-87A799F6D7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Pointer Interactions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01406D-B47A-4571-DEDC-F73BAB0188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Convenience APIs</a:t>
            </a:r>
          </a:p>
          <a:p>
            <a:r>
              <a:rPr lang="en-CA" dirty="0"/>
              <a:t>click()</a:t>
            </a:r>
          </a:p>
          <a:p>
            <a:r>
              <a:rPr lang="en-CA" dirty="0" err="1"/>
              <a:t>dblClick</a:t>
            </a:r>
            <a:r>
              <a:rPr lang="en-CA" dirty="0"/>
              <a:t>()</a:t>
            </a:r>
          </a:p>
          <a:p>
            <a:r>
              <a:rPr lang="en-CA" dirty="0" err="1"/>
              <a:t>tripleClick</a:t>
            </a:r>
            <a:r>
              <a:rPr lang="en-CA" dirty="0"/>
              <a:t>()</a:t>
            </a:r>
          </a:p>
          <a:p>
            <a:r>
              <a:rPr lang="en-CA" dirty="0"/>
              <a:t>hover() </a:t>
            </a:r>
          </a:p>
          <a:p>
            <a:r>
              <a:rPr lang="en-CA" dirty="0" err="1"/>
              <a:t>unhover</a:t>
            </a:r>
            <a:r>
              <a:rPr lang="en-CA" dirty="0"/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50773257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327EF5-2145-7DDD-BD00-8E7B3E2AF6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Keyboard Interactions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B6FB81-D599-069F-6F27-AB524FB971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Spinbutton</a:t>
            </a:r>
            <a:r>
              <a:rPr lang="en-US" dirty="0"/>
              <a:t>! - &lt;input type=“number”&gt;</a:t>
            </a:r>
          </a:p>
          <a:p>
            <a:r>
              <a:rPr lang="en-US" dirty="0"/>
              <a:t>Tabbing </a:t>
            </a:r>
          </a:p>
          <a:p>
            <a:r>
              <a:rPr lang="en-US" dirty="0"/>
              <a:t>Utility API</a:t>
            </a:r>
          </a:p>
          <a:p>
            <a:pPr lvl="1"/>
            <a:r>
              <a:rPr lang="en-US" dirty="0"/>
              <a:t>Clear()</a:t>
            </a:r>
          </a:p>
          <a:p>
            <a:pPr lvl="1"/>
            <a:r>
              <a:rPr lang="en-US" dirty="0" err="1"/>
              <a:t>selectOptions</a:t>
            </a:r>
            <a:r>
              <a:rPr lang="en-US" dirty="0"/>
              <a:t>()</a:t>
            </a:r>
          </a:p>
          <a:p>
            <a:pPr lvl="1"/>
            <a:r>
              <a:rPr lang="en-US" dirty="0" err="1"/>
              <a:t>deselectOptions</a:t>
            </a:r>
            <a:r>
              <a:rPr lang="en-US" dirty="0"/>
              <a:t>()</a:t>
            </a:r>
          </a:p>
          <a:p>
            <a:pPr lvl="1"/>
            <a:r>
              <a:rPr lang="en-US" dirty="0"/>
              <a:t>Upload()</a:t>
            </a:r>
          </a:p>
        </p:txBody>
      </p:sp>
    </p:spTree>
    <p:extLst>
      <p:ext uri="{BB962C8B-B14F-4D97-AF65-F5344CB8AC3E}">
        <p14:creationId xmlns:p14="http://schemas.microsoft.com/office/powerpoint/2010/main" val="32952802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538D9D"/>
      </a:hlink>
      <a:folHlink>
        <a:srgbClr val="A5738E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3A418E6B-C5F0-4B95-8D77-61E3EF3B5DF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12767</TotalTime>
  <Words>2538</Words>
  <Application>Microsoft Office PowerPoint</Application>
  <PresentationFormat>Widescreen</PresentationFormat>
  <Paragraphs>340</Paragraphs>
  <Slides>55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55</vt:i4>
      </vt:variant>
    </vt:vector>
  </HeadingPairs>
  <TitlesOfParts>
    <vt:vector size="60" baseType="lpstr">
      <vt:lpstr>Aptos</vt:lpstr>
      <vt:lpstr>Aptos Display</vt:lpstr>
      <vt:lpstr>Arial</vt:lpstr>
      <vt:lpstr>Söhne Mono</vt:lpstr>
      <vt:lpstr>Office Theme</vt:lpstr>
      <vt:lpstr>Week 13</vt:lpstr>
      <vt:lpstr>Agenda</vt:lpstr>
      <vt:lpstr>Agenda continued..</vt:lpstr>
      <vt:lpstr>Testing!</vt:lpstr>
      <vt:lpstr>Manual Vs Automated Testing Manual:</vt:lpstr>
      <vt:lpstr>Automated!</vt:lpstr>
      <vt:lpstr>Jest (JavaScript testing framework) &amp; RTL (React Testing Library) &amp; Vitest</vt:lpstr>
      <vt:lpstr>RTL</vt:lpstr>
      <vt:lpstr>Vitest </vt:lpstr>
      <vt:lpstr>Types of Tests:</vt:lpstr>
      <vt:lpstr>Unit Tests</vt:lpstr>
      <vt:lpstr>Integration Tests:</vt:lpstr>
      <vt:lpstr>End to End Tests(E2E)</vt:lpstr>
      <vt:lpstr>What is a TEST? - Demo</vt:lpstr>
      <vt:lpstr>What we need to write tests in React?</vt:lpstr>
      <vt:lpstr>Installations to run our tests</vt:lpstr>
      <vt:lpstr>Now we need DOM emulation</vt:lpstr>
      <vt:lpstr>How to run tests? </vt:lpstr>
      <vt:lpstr>Test Driven Development - TDD</vt:lpstr>
      <vt:lpstr>Jest Watch Mode: </vt:lpstr>
      <vt:lpstr>What to Test?</vt:lpstr>
      <vt:lpstr>What not to test?</vt:lpstr>
      <vt:lpstr>RTL Queries </vt:lpstr>
      <vt:lpstr>Assertions</vt:lpstr>
      <vt:lpstr>To find single &amp; multiple elements on the page!</vt:lpstr>
      <vt:lpstr>getByRole</vt:lpstr>
      <vt:lpstr>getByRole cont..</vt:lpstr>
      <vt:lpstr>Demo for getByRole( )</vt:lpstr>
      <vt:lpstr>What if two elements have the same role?</vt:lpstr>
      <vt:lpstr>For example: If we have a textbox and textarea together in a form</vt:lpstr>
      <vt:lpstr>Two headings together??</vt:lpstr>
      <vt:lpstr>getByRole Options ..cont.</vt:lpstr>
      <vt:lpstr>getByLabelText</vt:lpstr>
      <vt:lpstr>getByPlaceHolderText &amp; getByText</vt:lpstr>
      <vt:lpstr>getByDisplayValue</vt:lpstr>
      <vt:lpstr>getByAltText( )</vt:lpstr>
      <vt:lpstr>getByTitle</vt:lpstr>
      <vt:lpstr>getByTestId</vt:lpstr>
      <vt:lpstr>Priority Order for Queries</vt:lpstr>
      <vt:lpstr>RTL getAllBy Queries</vt:lpstr>
      <vt:lpstr>Let’s use getAllBy</vt:lpstr>
      <vt:lpstr>What is TextMatch? – The first argument to the query methods</vt:lpstr>
      <vt:lpstr>TextMatch - string</vt:lpstr>
      <vt:lpstr>TextMatch - regex</vt:lpstr>
      <vt:lpstr>TextMatch – custom function</vt:lpstr>
      <vt:lpstr>How to check if something is not there on component!</vt:lpstr>
      <vt:lpstr>queryBy and queryAllBy</vt:lpstr>
      <vt:lpstr>Appearance/Disappearance</vt:lpstr>
      <vt:lpstr>findBy and findAllBy</vt:lpstr>
      <vt:lpstr>To increase the timeout!</vt:lpstr>
      <vt:lpstr>User interactions!</vt:lpstr>
      <vt:lpstr>user-event</vt:lpstr>
      <vt:lpstr>Pointer Interactions</vt:lpstr>
      <vt:lpstr>Pointer Interactions</vt:lpstr>
      <vt:lpstr>Keyboard Interactions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Noman Atique</dc:creator>
  <cp:lastModifiedBy>Noman Atique</cp:lastModifiedBy>
  <cp:revision>41</cp:revision>
  <dcterms:created xsi:type="dcterms:W3CDTF">2024-09-09T03:21:42Z</dcterms:created>
  <dcterms:modified xsi:type="dcterms:W3CDTF">2025-12-06T07:37:27Z</dcterms:modified>
</cp:coreProperties>
</file>