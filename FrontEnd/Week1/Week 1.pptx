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74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5" r:id="rId14"/>
    <p:sldId id="267" r:id="rId15"/>
    <p:sldId id="276" r:id="rId16"/>
    <p:sldId id="27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65" autoAdjust="0"/>
    <p:restoredTop sz="94677"/>
  </p:normalViewPr>
  <p:slideViewPr>
    <p:cSldViewPr snapToGrid="0">
      <p:cViewPr varScale="1">
        <p:scale>
          <a:sx n="59" d="100"/>
          <a:sy n="59" d="100"/>
        </p:scale>
        <p:origin x="10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32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77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47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9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34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91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7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524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99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554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2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28A4246-F2A7-4220-A405-8A96DAE08D6A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078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mail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B4653-E536-1919-6171-CC3CB2E44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4257" y="490991"/>
            <a:ext cx="9144000" cy="2387600"/>
          </a:xfrm>
        </p:spPr>
        <p:txBody>
          <a:bodyPr/>
          <a:lstStyle/>
          <a:p>
            <a:r>
              <a:rPr lang="en-US" dirty="0"/>
              <a:t>Week 1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D4EDBD-9D5E-7826-4110-A853EAEF5E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Front-End Technology</a:t>
            </a:r>
          </a:p>
        </p:txBody>
      </p:sp>
    </p:spTree>
    <p:extLst>
      <p:ext uri="{BB962C8B-B14F-4D97-AF65-F5344CB8AC3E}">
        <p14:creationId xmlns:p14="http://schemas.microsoft.com/office/powerpoint/2010/main" val="2372950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E2869-90EA-EFFB-9B75-45039032B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821CC-8B2F-392B-53BE-AD58D8A4E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dirty="0"/>
              <a:t> Front-end introduction!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Internet and world wide web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Difference between Front-end &amp; Back-end technologies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Re-introduction to HTML </a:t>
            </a:r>
            <a:r>
              <a:rPr lang="en-US" dirty="0">
                <a:sym typeface="Wingdings" pitchFamily="2" charset="2"/>
              </a:rPr>
              <a:t> - Some gap filling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012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4493F-6D5A-92B9-C499-86E32457F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Front-End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848E9-4688-1E9D-63C3-42E6F2CE1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Whatever we see is Front-End!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Isn’t that very simple – Let’s dig into it!!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are MEAN and ME</a:t>
            </a:r>
            <a:r>
              <a:rPr lang="en-US" dirty="0">
                <a:solidFill>
                  <a:srgbClr val="FFFF00"/>
                </a:solidFill>
              </a:rPr>
              <a:t>R</a:t>
            </a:r>
            <a:r>
              <a:rPr lang="en-US" dirty="0"/>
              <a:t>N? </a:t>
            </a:r>
          </a:p>
          <a:p>
            <a:pPr marL="0" indent="0">
              <a:buNone/>
            </a:pPr>
            <a:r>
              <a:rPr lang="en-US" dirty="0"/>
              <a:t>	MongoDB, Express JS, </a:t>
            </a:r>
            <a:r>
              <a:rPr lang="en-US" dirty="0">
                <a:solidFill>
                  <a:srgbClr val="FF0000"/>
                </a:solidFill>
              </a:rPr>
              <a:t>Angular JS</a:t>
            </a:r>
            <a:r>
              <a:rPr lang="en-US" dirty="0"/>
              <a:t>, Node JS</a:t>
            </a:r>
          </a:p>
          <a:p>
            <a:pPr marL="0" indent="0">
              <a:buNone/>
            </a:pPr>
            <a:r>
              <a:rPr lang="en-US" dirty="0"/>
              <a:t>	MongoDB, Express JS,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Reat JS</a:t>
            </a:r>
            <a:r>
              <a:rPr lang="en-US" dirty="0"/>
              <a:t>, Node JS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Full Stack Developers!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605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226C2-459D-B684-7C9A-16F3FC108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Front-end and back-end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00540-CF72-5DDE-B073-974835DC5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Front-end Technologies: HTML,CSS, </a:t>
            </a:r>
            <a:r>
              <a:rPr lang="en-US" dirty="0">
                <a:solidFill>
                  <a:srgbClr val="FFFF00"/>
                </a:solidFill>
              </a:rPr>
              <a:t>JavaScript (Both)-REACT</a:t>
            </a:r>
          </a:p>
          <a:p>
            <a:pPr lvl="1"/>
            <a:r>
              <a:rPr lang="en-US" dirty="0"/>
              <a:t>(Client-side scripts) –STATIC WEBSITE</a:t>
            </a:r>
          </a:p>
          <a:p>
            <a:r>
              <a:rPr lang="en-US" dirty="0"/>
              <a:t>Back-end Technologies: </a:t>
            </a:r>
            <a:r>
              <a:rPr lang="en-US" dirty="0">
                <a:solidFill>
                  <a:srgbClr val="FFFF00"/>
                </a:solidFill>
              </a:rPr>
              <a:t>JavaScript(Both), </a:t>
            </a:r>
            <a:r>
              <a:rPr lang="en-US" dirty="0"/>
              <a:t>Express JS, SQL Server, MongoDB, PHP, </a:t>
            </a:r>
            <a:r>
              <a:rPr lang="en-US" dirty="0" err="1"/>
              <a:t>ASP.net</a:t>
            </a:r>
            <a:r>
              <a:rPr lang="en-US" dirty="0"/>
              <a:t>, Ruby on rails, LAMP(Linux Apache </a:t>
            </a:r>
            <a:r>
              <a:rPr lang="en-US" dirty="0" err="1"/>
              <a:t>MySql</a:t>
            </a:r>
            <a:r>
              <a:rPr lang="en-US" dirty="0"/>
              <a:t> PHP), WAMP( Window), XAMPP (W &amp; L )</a:t>
            </a:r>
          </a:p>
          <a:p>
            <a:pPr lvl="1"/>
            <a:r>
              <a:rPr lang="en-US" dirty="0"/>
              <a:t>(Server-side scripts) – DYNAMIC  WEBSITE</a:t>
            </a:r>
          </a:p>
        </p:txBody>
      </p:sp>
    </p:spTree>
    <p:extLst>
      <p:ext uri="{BB962C8B-B14F-4D97-AF65-F5344CB8AC3E}">
        <p14:creationId xmlns:p14="http://schemas.microsoft.com/office/powerpoint/2010/main" val="3420399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399E2-B463-6595-7302-8FEFC6654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&amp; Dynamic Websites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1C05D-DBFD-89E0-B1B6-AAFADF672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379310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FFFF00"/>
                </a:solidFill>
              </a:rPr>
              <a:t>Static websites</a:t>
            </a:r>
            <a:r>
              <a:rPr lang="en-US" dirty="0"/>
              <a:t>: Websites that show same content to every user, regardless of their location, time or anything.</a:t>
            </a:r>
          </a:p>
          <a:p>
            <a:r>
              <a:rPr lang="en-US" dirty="0"/>
              <a:t>For example: </a:t>
            </a:r>
            <a:r>
              <a:rPr lang="en-US" dirty="0" err="1"/>
              <a:t>Mr.X</a:t>
            </a:r>
            <a:r>
              <a:rPr lang="en-US" dirty="0"/>
              <a:t> make their website which is more like online resume for </a:t>
            </a:r>
            <a:r>
              <a:rPr lang="en-US" dirty="0" err="1"/>
              <a:t>Mr.X</a:t>
            </a:r>
            <a:r>
              <a:rPr lang="en-US" dirty="0"/>
              <a:t>.  </a:t>
            </a:r>
            <a:r>
              <a:rPr lang="en-US" dirty="0">
                <a:solidFill>
                  <a:schemeClr val="accent6"/>
                </a:solidFill>
              </a:rPr>
              <a:t>(Client side scripts are used to make static websites)</a:t>
            </a:r>
          </a:p>
          <a:p>
            <a:endParaRPr lang="en-US" dirty="0"/>
          </a:p>
          <a:p>
            <a:r>
              <a:rPr lang="en-US" dirty="0">
                <a:solidFill>
                  <a:srgbClr val="FFFF00"/>
                </a:solidFill>
              </a:rPr>
              <a:t>Dynamic Websites</a:t>
            </a:r>
            <a:r>
              <a:rPr lang="en-US" dirty="0"/>
              <a:t>: A website that shows different contents to different users.</a:t>
            </a:r>
          </a:p>
          <a:p>
            <a:endParaRPr lang="en-US" dirty="0"/>
          </a:p>
          <a:p>
            <a:r>
              <a:rPr lang="en-US" dirty="0"/>
              <a:t>For example: If you open weather website, would that show different temperature right now? And different temperate at 2 in the morning?</a:t>
            </a:r>
          </a:p>
          <a:p>
            <a:r>
              <a:rPr lang="en-US" dirty="0">
                <a:hlinkClick r:id="rId2"/>
              </a:rPr>
              <a:t>www.facebook.com</a:t>
            </a:r>
            <a:r>
              <a:rPr lang="en-US" dirty="0"/>
              <a:t>: I enter my credentials, do I see the same content as yours?? </a:t>
            </a:r>
            <a:r>
              <a:rPr lang="en-US" dirty="0">
                <a:solidFill>
                  <a:schemeClr val="accent6"/>
                </a:solidFill>
              </a:rPr>
              <a:t>(Server side scripts are used to make dynamic websites)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894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A1F94-E932-1C87-E19A-43DDDD43A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and World Wide Web (WWW)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28DAE-974C-DA62-550E-E2BBC703B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the Internet???</a:t>
            </a:r>
          </a:p>
          <a:p>
            <a:pPr marL="0" indent="0">
              <a:buNone/>
            </a:pPr>
            <a:r>
              <a:rPr lang="en-US" dirty="0"/>
              <a:t>	Network of Networks!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world wide web???	</a:t>
            </a:r>
          </a:p>
          <a:p>
            <a:pPr marL="0" indent="0">
              <a:buNone/>
            </a:pPr>
            <a:r>
              <a:rPr lang="en-US" dirty="0"/>
              <a:t>	A way to store and access information by using the “internet”</a:t>
            </a:r>
          </a:p>
          <a:p>
            <a:pPr marL="0" indent="0">
              <a:buNone/>
            </a:pPr>
            <a:r>
              <a:rPr lang="en-US" dirty="0"/>
              <a:t>	virtual directory consisting of websites…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www.gmail.com</a:t>
            </a:r>
            <a:r>
              <a:rPr lang="en-US" dirty="0"/>
              <a:t>, </a:t>
            </a:r>
            <a:r>
              <a:rPr lang="en-US" dirty="0" err="1"/>
              <a:t>www.facebook.com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201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59ED-174A-B239-31DB-D93D0683E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clarity..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212A1-47F0-94B4-4A25-5D94B4DB2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5631"/>
          </a:xfrm>
        </p:spPr>
        <p:txBody>
          <a:bodyPr>
            <a:normAutofit fontScale="92500"/>
          </a:bodyPr>
          <a:lstStyle/>
          <a:p>
            <a:r>
              <a:rPr lang="en-US" dirty="0"/>
              <a:t>We often use the terms “Web” and “Internet” interchangeably; however, they aren’t the same</a:t>
            </a:r>
          </a:p>
          <a:p>
            <a:endParaRPr lang="en-US" dirty="0"/>
          </a:p>
          <a:p>
            <a:r>
              <a:rPr lang="en-US" dirty="0"/>
              <a:t>"Network of Networks”</a:t>
            </a:r>
          </a:p>
          <a:p>
            <a:endParaRPr lang="en-US" dirty="0"/>
          </a:p>
          <a:p>
            <a:r>
              <a:rPr lang="en-US" dirty="0"/>
              <a:t>world wide web??? web is a subset of internet- allows us to access web services , request resources like images pages etc.. and transmit data between clients and servers...virtual directory of web resources..</a:t>
            </a:r>
          </a:p>
          <a:p>
            <a:endParaRPr lang="en-US" dirty="0"/>
          </a:p>
          <a:p>
            <a:r>
              <a:rPr lang="en-US" dirty="0"/>
              <a:t>Web uses internet as a backbone to transmit data from one side to other and vise versa. </a:t>
            </a:r>
          </a:p>
        </p:txBody>
      </p:sp>
    </p:spTree>
    <p:extLst>
      <p:ext uri="{BB962C8B-B14F-4D97-AF65-F5344CB8AC3E}">
        <p14:creationId xmlns:p14="http://schemas.microsoft.com/office/powerpoint/2010/main" val="1331327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FA853-DFD1-74C5-AA37-FCBB63ABA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about web and internet!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AF2BF-A410-E9DA-BA21-6ABF2FE7F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runs of top of TCP/IP networks using a number of communication protocols...(Transmission Control Protocol/Internet Protocol)</a:t>
            </a:r>
          </a:p>
          <a:p>
            <a:endParaRPr lang="en-US" dirty="0"/>
          </a:p>
          <a:p>
            <a:r>
              <a:rPr lang="en-US" dirty="0"/>
              <a:t>IP: 32 bit number(IPV4) are assigned to every device on the internet...</a:t>
            </a:r>
          </a:p>
          <a:p>
            <a:endParaRPr lang="en-US" dirty="0"/>
          </a:p>
          <a:p>
            <a:r>
              <a:rPr lang="en-US" dirty="0"/>
              <a:t>202.102.23.123   IPV4</a:t>
            </a:r>
          </a:p>
          <a:p>
            <a:r>
              <a:rPr lang="en-US" dirty="0"/>
              <a:t>128 bit number   IPV6 </a:t>
            </a:r>
          </a:p>
        </p:txBody>
      </p:sp>
    </p:spTree>
    <p:extLst>
      <p:ext uri="{BB962C8B-B14F-4D97-AF65-F5344CB8AC3E}">
        <p14:creationId xmlns:p14="http://schemas.microsoft.com/office/powerpoint/2010/main" val="1679604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0B35-A22F-0FC3-CE36-14D95B184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B9A4B-22D6-1A23-D4C4-EB9964726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Domain Names: Human readable names of the websites...</a:t>
            </a:r>
          </a:p>
          <a:p>
            <a:r>
              <a:rPr lang="en-US" dirty="0"/>
              <a:t>Domain Name System (DNS) ..."the phone book" of the internet...</a:t>
            </a:r>
          </a:p>
          <a:p>
            <a:r>
              <a:rPr lang="en-US" dirty="0"/>
              <a:t>HTTP: Hyper Text Transfer Protocol..</a:t>
            </a:r>
          </a:p>
          <a:p>
            <a:r>
              <a:rPr lang="en-US" dirty="0"/>
              <a:t>HTTPS: Secure...</a:t>
            </a:r>
          </a:p>
          <a:p>
            <a:r>
              <a:rPr lang="en-US" dirty="0"/>
              <a:t>SMTP, FTP, POP, IMAP, SSH</a:t>
            </a:r>
          </a:p>
        </p:txBody>
      </p:sp>
    </p:spTree>
    <p:extLst>
      <p:ext uri="{BB962C8B-B14F-4D97-AF65-F5344CB8AC3E}">
        <p14:creationId xmlns:p14="http://schemas.microsoft.com/office/powerpoint/2010/main" val="3558041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04175-07F9-A0B1-C521-E9A551121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Requests and Responses!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DDE38-DAD7-5F42-1E47-FE02BF733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Client Requests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Server Responds..</a:t>
            </a:r>
          </a:p>
        </p:txBody>
      </p:sp>
    </p:spTree>
    <p:extLst>
      <p:ext uri="{BB962C8B-B14F-4D97-AF65-F5344CB8AC3E}">
        <p14:creationId xmlns:p14="http://schemas.microsoft.com/office/powerpoint/2010/main" val="949668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CC9D8-E816-64EF-F0B8-147384858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03429" cy="1325563"/>
          </a:xfrm>
        </p:spPr>
        <p:txBody>
          <a:bodyPr/>
          <a:lstStyle/>
          <a:p>
            <a:r>
              <a:rPr lang="en-US" dirty="0"/>
              <a:t>URL parts: (Uniform Resource Locator)(Universal Resource Locator)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F466B-238F-3D4C-C79D-3F98E52F0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https://www.google.com:443</a:t>
            </a:r>
          </a:p>
          <a:p>
            <a:endParaRPr lang="en-US" dirty="0"/>
          </a:p>
          <a:p>
            <a:r>
              <a:rPr lang="en-US" dirty="0"/>
              <a:t>https: protocol...</a:t>
            </a:r>
          </a:p>
          <a:p>
            <a:endParaRPr lang="en-US" dirty="0"/>
          </a:p>
          <a:p>
            <a:r>
              <a:rPr lang="en-US" dirty="0"/>
              <a:t>domain: </a:t>
            </a:r>
            <a:r>
              <a:rPr lang="en-US" dirty="0" err="1"/>
              <a:t>www.google.com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port: NOT GIVEN...65000 above.... 443: for https://  80: for http:// 5000, 5500</a:t>
            </a:r>
          </a:p>
          <a:p>
            <a:endParaRPr lang="en-US" dirty="0"/>
          </a:p>
          <a:p>
            <a:r>
              <a:rPr lang="en-US" dirty="0"/>
              <a:t>origin: Combining protocol, domain, port... GIVES US </a:t>
            </a:r>
            <a:r>
              <a:rPr lang="en-US" dirty="0">
                <a:solidFill>
                  <a:srgbClr val="FFFF00"/>
                </a:solidFill>
              </a:rPr>
              <a:t>origin</a:t>
            </a:r>
            <a:r>
              <a:rPr lang="en-US" dirty="0"/>
              <a:t>...Origin plays a central role in the web's security model...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067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A3FA0-A4B7-EBA4-7A82-378F31739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094E7-CA08-3AE9-49E8-27F37E529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Response Codes:</a:t>
            </a:r>
          </a:p>
          <a:p>
            <a:r>
              <a:rPr lang="en-US" dirty="0"/>
              <a:t>    That tells us what has happened with the request:</a:t>
            </a:r>
          </a:p>
          <a:p>
            <a:r>
              <a:rPr lang="en-US" dirty="0"/>
              <a:t>        200 . OK</a:t>
            </a:r>
          </a:p>
          <a:p>
            <a:r>
              <a:rPr lang="en-US" dirty="0"/>
              <a:t>        404 . Error -resource not found    </a:t>
            </a:r>
          </a:p>
          <a:p>
            <a:r>
              <a:rPr lang="en-US" dirty="0"/>
              <a:t>        500. Server errors</a:t>
            </a:r>
          </a:p>
          <a:p>
            <a:endParaRPr lang="en-US" dirty="0"/>
          </a:p>
          <a:p>
            <a:r>
              <a:rPr lang="en-US" dirty="0" err="1"/>
              <a:t>QueryString</a:t>
            </a:r>
            <a:r>
              <a:rPr lang="en-US" dirty="0"/>
              <a:t>:</a:t>
            </a:r>
          </a:p>
          <a:p>
            <a:r>
              <a:rPr lang="en-US" dirty="0"/>
              <a:t>something added after the URL, starting with "?"... is called </a:t>
            </a:r>
            <a:r>
              <a:rPr lang="en-US" dirty="0" err="1"/>
              <a:t>querystring</a:t>
            </a:r>
            <a:r>
              <a:rPr lang="en-US" dirty="0"/>
              <a:t>.</a:t>
            </a:r>
          </a:p>
          <a:p>
            <a:r>
              <a:rPr lang="en-US" dirty="0"/>
              <a:t>Extra information to make something happen when you access a URL...</a:t>
            </a:r>
          </a:p>
          <a:p>
            <a:r>
              <a:rPr lang="en-US" dirty="0"/>
              <a:t>Fragments on the web page:</a:t>
            </a:r>
          </a:p>
          <a:p>
            <a:r>
              <a:rPr lang="en-US" dirty="0"/>
              <a:t>id = "some"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098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9CF38-571D-86E8-7ADE-3B6A57F09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AD4B1-482C-320F-BA32-D5662E375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Hyper Text Markup Language</a:t>
            </a:r>
          </a:p>
          <a:p>
            <a:pPr lvl="1"/>
            <a:r>
              <a:rPr lang="en-US" dirty="0"/>
              <a:t>Hypertext refers to “linked text” – a text which when clicked will take us to somewhere else!</a:t>
            </a:r>
          </a:p>
          <a:p>
            <a:pPr lvl="1"/>
            <a:endParaRPr lang="en-US" dirty="0"/>
          </a:p>
          <a:p>
            <a:r>
              <a:rPr lang="en-US" dirty="0"/>
              <a:t>Markup: </a:t>
            </a:r>
          </a:p>
          <a:p>
            <a:pPr lvl="1"/>
            <a:r>
              <a:rPr lang="en-US" dirty="0"/>
              <a:t>Defining rules for some particular areas!  &lt;title&gt; This is a title&lt;/title&gt;</a:t>
            </a:r>
          </a:p>
          <a:p>
            <a:pPr lvl="1"/>
            <a:r>
              <a:rPr lang="en-US" dirty="0"/>
              <a:t>&lt;strong&gt; This will be bold/ strong text&lt;/strong&gt;</a:t>
            </a:r>
          </a:p>
          <a:p>
            <a:pPr lvl="1"/>
            <a:r>
              <a:rPr lang="en-US" dirty="0"/>
              <a:t>&lt;blue&gt; Keyin College&lt;/blue&gt;  NO TAG IN HTML…</a:t>
            </a:r>
          </a:p>
          <a:p>
            <a:endParaRPr lang="en-US" dirty="0"/>
          </a:p>
          <a:p>
            <a:r>
              <a:rPr lang="en-US" dirty="0"/>
              <a:t>Language: It’s a language! Interpreted language (Self study)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939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5616E-540A-335E-8251-A6010E886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68463-C4DF-4E26-02D2-F580B838F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Tag:  &lt;something&gt;</a:t>
            </a:r>
          </a:p>
          <a:p>
            <a:r>
              <a:rPr lang="en-US" dirty="0"/>
              <a:t>Elements: &lt;title&gt;Something&lt;/title&gt; The starting tag, content and ending tag…</a:t>
            </a:r>
          </a:p>
          <a:p>
            <a:endParaRPr lang="en-US" dirty="0"/>
          </a:p>
          <a:p>
            <a:r>
              <a:rPr lang="en-US" dirty="0"/>
              <a:t>[If any element does not have any content, we make it and </a:t>
            </a:r>
            <a:r>
              <a:rPr lang="en-US" dirty="0">
                <a:solidFill>
                  <a:srgbClr val="FFFF00"/>
                </a:solidFill>
              </a:rPr>
              <a:t>empty element  &lt;meta/&gt;</a:t>
            </a:r>
          </a:p>
          <a:p>
            <a:r>
              <a:rPr lang="en-US" dirty="0"/>
              <a:t>Attributes: That give extra functionality to the tag/element</a:t>
            </a:r>
          </a:p>
          <a:p>
            <a:r>
              <a:rPr lang="en-US" dirty="0"/>
              <a:t>Entity: &amp; ;… we write something in between and it renders the special character…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374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A6C6C-095E-A0A7-CB6A-F990195CD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from lecture – January 12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B1DF9-EEE7-55B8-C8B7-E436A1027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&lt;!-- &lt;b&gt; Tag...   </a:t>
            </a:r>
          </a:p>
          <a:p>
            <a:r>
              <a:rPr lang="en-US" dirty="0"/>
              <a:t>&lt;html&gt;</a:t>
            </a:r>
          </a:p>
          <a:p>
            <a:r>
              <a:rPr lang="en-US" dirty="0"/>
              <a:t>&lt;body&gt; --&gt;</a:t>
            </a:r>
          </a:p>
          <a:p>
            <a:r>
              <a:rPr lang="en-US" dirty="0"/>
              <a:t>&lt;!-- Elements --&gt;</a:t>
            </a:r>
          </a:p>
          <a:p>
            <a:r>
              <a:rPr lang="en-US" dirty="0"/>
              <a:t>&lt;!-- &lt;title&gt;Something in between&lt;/title&gt;</a:t>
            </a:r>
          </a:p>
          <a:p>
            <a:r>
              <a:rPr lang="en-US" dirty="0"/>
              <a:t>&lt;h1&gt;Hello I am an H1&lt;/h1&gt; --&gt;</a:t>
            </a:r>
          </a:p>
          <a:p>
            <a:endParaRPr lang="en-US" dirty="0"/>
          </a:p>
          <a:p>
            <a:r>
              <a:rPr lang="en-US" dirty="0"/>
              <a:t>If something starts with &lt;! &gt;.. It is NOT AN ELEMENT IN HTML..</a:t>
            </a:r>
          </a:p>
          <a:p>
            <a:r>
              <a:rPr lang="en-US" dirty="0"/>
              <a:t>It is actually a declaration!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030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DCA41-FB7C-A84D-38E7-4FCAC8694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370"/>
            <a:ext cx="10515600" cy="6226629"/>
          </a:xfrm>
        </p:spPr>
        <p:txBody>
          <a:bodyPr>
            <a:normAutofit fontScale="25000" lnSpcReduction="20000"/>
          </a:bodyPr>
          <a:lstStyle/>
          <a:p>
            <a:r>
              <a:rPr lang="en-US" dirty="0"/>
              <a:t>&lt;!DOCTYPE html&gt;</a:t>
            </a:r>
          </a:p>
          <a:p>
            <a:r>
              <a:rPr lang="en-US" dirty="0"/>
              <a:t>&lt;html lang="</a:t>
            </a:r>
            <a:r>
              <a:rPr lang="en-US" dirty="0" err="1"/>
              <a:t>en</a:t>
            </a:r>
            <a:r>
              <a:rPr lang="en-US" dirty="0"/>
              <a:t>"&gt;</a:t>
            </a:r>
          </a:p>
          <a:p>
            <a:r>
              <a:rPr lang="en-US" dirty="0"/>
              <a:t>  &lt;head&gt;</a:t>
            </a:r>
          </a:p>
          <a:p>
            <a:r>
              <a:rPr lang="en-US" dirty="0"/>
              <a:t>    &lt;meta /&gt;</a:t>
            </a:r>
          </a:p>
          <a:p>
            <a:r>
              <a:rPr lang="en-US" dirty="0"/>
              <a:t>    &lt;meta /&gt;</a:t>
            </a:r>
          </a:p>
          <a:p>
            <a:r>
              <a:rPr lang="en-US" dirty="0"/>
              <a:t>    &lt;title&gt;Document&lt;/title&gt;</a:t>
            </a:r>
          </a:p>
          <a:p>
            <a:r>
              <a:rPr lang="en-US" dirty="0"/>
              <a:t>  &lt;/head&gt;</a:t>
            </a:r>
          </a:p>
          <a:p>
            <a:r>
              <a:rPr lang="en-US" dirty="0"/>
              <a:t>  &lt;body&gt;</a:t>
            </a:r>
          </a:p>
          <a:p>
            <a:r>
              <a:rPr lang="en-US" dirty="0"/>
              <a:t>    &lt;ul id="list"&gt;</a:t>
            </a:r>
          </a:p>
          <a:p>
            <a:r>
              <a:rPr lang="en-US" dirty="0"/>
              <a:t>      &lt;li class="demo"&gt;A&lt;/li&gt;</a:t>
            </a:r>
          </a:p>
          <a:p>
            <a:r>
              <a:rPr lang="en-US" dirty="0"/>
              <a:t>      &lt;li&gt;B&lt;/li&gt;</a:t>
            </a:r>
          </a:p>
          <a:p>
            <a:r>
              <a:rPr lang="en-US" dirty="0"/>
              <a:t>      &lt;li&gt;C&lt;/li&gt;</a:t>
            </a:r>
          </a:p>
          <a:p>
            <a:r>
              <a:rPr lang="en-US" dirty="0"/>
              <a:t>      &lt;li&gt;D&lt;/li&gt;</a:t>
            </a:r>
          </a:p>
          <a:p>
            <a:r>
              <a:rPr lang="en-US" dirty="0"/>
              <a:t>    &lt;/ul&gt;</a:t>
            </a:r>
          </a:p>
          <a:p>
            <a:r>
              <a:rPr lang="en-US" dirty="0"/>
              <a:t>    &lt;</a:t>
            </a:r>
            <a:r>
              <a:rPr lang="en-US" dirty="0" err="1"/>
              <a:t>br</a:t>
            </a:r>
            <a:r>
              <a:rPr lang="en-US" dirty="0"/>
              <a:t> /&gt;</a:t>
            </a:r>
          </a:p>
          <a:p>
            <a:r>
              <a:rPr lang="en-US" dirty="0"/>
              <a:t>    &lt;</a:t>
            </a:r>
            <a:r>
              <a:rPr lang="en-US" dirty="0" err="1"/>
              <a:t>hr</a:t>
            </a:r>
            <a:r>
              <a:rPr lang="en-US" dirty="0"/>
              <a:t> /&gt;</a:t>
            </a:r>
          </a:p>
          <a:p>
            <a:r>
              <a:rPr lang="en-US" dirty="0"/>
              <a:t>  &lt;/body&gt;</a:t>
            </a:r>
          </a:p>
          <a:p>
            <a:r>
              <a:rPr lang="en-US" dirty="0"/>
              <a:t>&lt;/html&gt;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&lt;!-- &lt;html&gt; is 1st element</a:t>
            </a:r>
          </a:p>
          <a:p>
            <a:r>
              <a:rPr lang="en-US" dirty="0"/>
              <a:t>    &lt;head&gt; is 2nd element</a:t>
            </a:r>
          </a:p>
          <a:p>
            <a:r>
              <a:rPr lang="en-US" dirty="0"/>
              <a:t>    &lt;body&gt; is the 3rd element (temporarily the &lt;body&gt; was also empty element)</a:t>
            </a:r>
          </a:p>
          <a:p>
            <a:r>
              <a:rPr lang="en-US" dirty="0"/>
              <a:t>    &lt;title&gt; is the 4th element</a:t>
            </a:r>
          </a:p>
          <a:p>
            <a:r>
              <a:rPr lang="en-US" dirty="0"/>
              <a:t>    &lt;meta/&gt; is the 5th element( meta is an empty element)</a:t>
            </a: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    EMPTY ELEMENTS - where there is no content with the </a:t>
            </a:r>
            <a:r>
              <a:rPr lang="en-US" dirty="0" err="1"/>
              <a:t>elment</a:t>
            </a:r>
            <a:r>
              <a:rPr lang="en-US" dirty="0"/>
              <a:t>, it is called "empty element"</a:t>
            </a:r>
          </a:p>
          <a:p>
            <a:r>
              <a:rPr lang="en-US" dirty="0"/>
              <a:t>           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--&gt;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760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1BF42-2DDD-E38F-F1F8-68EC301ED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Metadata!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07EE6-811E-3DCF-B1CA-EB4A4B697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&lt;link&gt;… links from this document to external resources such as CSS style sheets…</a:t>
            </a:r>
          </a:p>
          <a:p>
            <a:pPr marL="0" indent="0">
              <a:buNone/>
            </a:pPr>
            <a:r>
              <a:rPr lang="en-US" dirty="0"/>
              <a:t>&lt;meta&gt; - metadata that can’t be included via other elements..</a:t>
            </a:r>
          </a:p>
          <a:p>
            <a:pPr marL="0" indent="0">
              <a:buNone/>
            </a:pPr>
            <a:r>
              <a:rPr lang="en-US" dirty="0"/>
              <a:t>&lt;title&gt; - the document’s title</a:t>
            </a:r>
          </a:p>
        </p:txBody>
      </p:sp>
    </p:spTree>
    <p:extLst>
      <p:ext uri="{BB962C8B-B14F-4D97-AF65-F5344CB8AC3E}">
        <p14:creationId xmlns:p14="http://schemas.microsoft.com/office/powerpoint/2010/main" val="3947425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9451F-6512-128F-9B0A-0AA755ACB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document sections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E14C1-39B6-C63F-D2A6-37EAAC82E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&lt;html&gt;</a:t>
            </a:r>
          </a:p>
          <a:p>
            <a:r>
              <a:rPr lang="en-US" dirty="0"/>
              <a:t>&lt;head&gt; &lt;title&gt;&lt;/title&gt;</a:t>
            </a:r>
          </a:p>
          <a:p>
            <a:r>
              <a:rPr lang="en-US" dirty="0"/>
              <a:t>&lt;body&gt;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FFFF00"/>
                </a:solidFill>
              </a:rPr>
              <a:t>ALWAYS </a:t>
            </a:r>
            <a:r>
              <a:rPr lang="en-US" dirty="0" err="1">
                <a:solidFill>
                  <a:srgbClr val="FFFF00"/>
                </a:solidFill>
              </a:rPr>
              <a:t>ALWAYS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ALWAYS</a:t>
            </a:r>
            <a:r>
              <a:rPr lang="en-US">
                <a:solidFill>
                  <a:srgbClr val="FFFF00"/>
                </a:solidFill>
              </a:rPr>
              <a:t> VALIDATE </a:t>
            </a:r>
            <a:r>
              <a:rPr lang="en-US" dirty="0">
                <a:solidFill>
                  <a:srgbClr val="FFFF00"/>
                </a:solidFill>
              </a:rPr>
              <a:t>YOUR ASSIGNMENT BEFORE SUBMITTING…</a:t>
            </a:r>
          </a:p>
          <a:p>
            <a:r>
              <a:rPr lang="en-US" dirty="0">
                <a:solidFill>
                  <a:srgbClr val="FFFF00"/>
                </a:solidFill>
              </a:rPr>
              <a:t>NO RED ELEMENT/ATTRIBUTE IN YOUR ASSIGNMENT…</a:t>
            </a:r>
          </a:p>
        </p:txBody>
      </p:sp>
    </p:spTree>
    <p:extLst>
      <p:ext uri="{BB962C8B-B14F-4D97-AF65-F5344CB8AC3E}">
        <p14:creationId xmlns:p14="http://schemas.microsoft.com/office/powerpoint/2010/main" val="3033708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250C9-84EB-1F2A-61F2-381B50203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Sections – </a:t>
            </a:r>
            <a:r>
              <a:rPr lang="en-US" dirty="0">
                <a:solidFill>
                  <a:srgbClr val="FFFF00"/>
                </a:solidFill>
              </a:rPr>
              <a:t>ALWAYS INSIDE &lt;body&gt;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Semantic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BC910-92EE-2EAB-745E-9168A06FF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&lt;header&gt; - introductory material at the top of the document.</a:t>
            </a:r>
          </a:p>
          <a:p>
            <a:r>
              <a:rPr lang="en-US" dirty="0"/>
              <a:t>&lt;nav&gt; - content related to </a:t>
            </a:r>
            <a:r>
              <a:rPr lang="en-US" dirty="0" err="1"/>
              <a:t>navigation..menu</a:t>
            </a:r>
            <a:r>
              <a:rPr lang="en-US" dirty="0"/>
              <a:t>, index, links, etc.</a:t>
            </a:r>
          </a:p>
          <a:p>
            <a:r>
              <a:rPr lang="en-US" dirty="0"/>
              <a:t>&lt;main&gt; - the main content of the document.. For example, the main article text that you want to convey…</a:t>
            </a:r>
          </a:p>
          <a:p>
            <a:r>
              <a:rPr lang="en-US" dirty="0"/>
              <a:t>&lt;h1&gt;,… &lt;/h6&gt; Headers of the content sections</a:t>
            </a:r>
          </a:p>
          <a:p>
            <a:r>
              <a:rPr lang="en-US" dirty="0"/>
              <a:t>&lt;footer&gt;… end material….(author, copyright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48583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89EA0-60FB-22A5-8D53-5F77B1716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1A687-BB88-919A-0985-1D38762E7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&lt;div&gt;.. A generic container we use to attach style or script…</a:t>
            </a:r>
          </a:p>
          <a:p>
            <a:r>
              <a:rPr lang="en-US" dirty="0"/>
              <a:t>&lt;</a:t>
            </a:r>
            <a:r>
              <a:rPr lang="en-US" dirty="0" err="1"/>
              <a:t>ol</a:t>
            </a:r>
            <a:r>
              <a:rPr lang="en-US" dirty="0"/>
              <a:t>&gt;.. Ordered list</a:t>
            </a:r>
          </a:p>
          <a:p>
            <a:r>
              <a:rPr lang="en-US" dirty="0"/>
              <a:t>&lt;</a:t>
            </a:r>
            <a:r>
              <a:rPr lang="en-US" dirty="0" err="1"/>
              <a:t>ul</a:t>
            </a:r>
            <a:r>
              <a:rPr lang="en-US" dirty="0"/>
              <a:t>&gt;.. Unordered list</a:t>
            </a:r>
          </a:p>
          <a:p>
            <a:r>
              <a:rPr lang="en-US" dirty="0"/>
              <a:t>&lt;li&gt;… List item</a:t>
            </a:r>
          </a:p>
          <a:p>
            <a:r>
              <a:rPr lang="en-US" dirty="0"/>
              <a:t>&lt;p&gt;… a paragraph</a:t>
            </a:r>
          </a:p>
          <a:p>
            <a:r>
              <a:rPr lang="en-US" dirty="0"/>
              <a:t>&lt;blockquote&gt;</a:t>
            </a:r>
          </a:p>
        </p:txBody>
      </p:sp>
    </p:spTree>
    <p:extLst>
      <p:ext uri="{BB962C8B-B14F-4D97-AF65-F5344CB8AC3E}">
        <p14:creationId xmlns:p14="http://schemas.microsoft.com/office/powerpoint/2010/main" val="21033998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F8013-9734-499A-E6A8-BA4F46589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 Text: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BD225-66E7-F68A-099C-215CFDFA4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&lt;a&gt;.. Anchor is used to make links… allows user to navigate…</a:t>
            </a:r>
          </a:p>
          <a:p>
            <a:r>
              <a:rPr lang="en-US" dirty="0"/>
              <a:t>&lt;code&gt;… formats the text as computer code…</a:t>
            </a:r>
          </a:p>
          <a:p>
            <a:r>
              <a:rPr lang="en-US" dirty="0"/>
              <a:t>&lt;</a:t>
            </a:r>
            <a:r>
              <a:rPr lang="en-US" dirty="0" err="1"/>
              <a:t>em</a:t>
            </a:r>
            <a:r>
              <a:rPr lang="en-US" dirty="0"/>
              <a:t>&gt; - adds emphasis…(like italic)</a:t>
            </a:r>
          </a:p>
          <a:p>
            <a:r>
              <a:rPr lang="en-US" dirty="0"/>
              <a:t>&lt;span&gt; generic containers</a:t>
            </a:r>
          </a:p>
          <a:p>
            <a:endParaRPr lang="en-US" dirty="0"/>
          </a:p>
          <a:p>
            <a:r>
              <a:rPr lang="en-US" dirty="0"/>
              <a:t>Inline and Block </a:t>
            </a:r>
            <a:r>
              <a:rPr lang="en-US"/>
              <a:t>level Elements?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477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282BF-879C-C087-A8B9-C5C704726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Multimedia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7F769-F772-0477-A458-C1FA52EF8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&gt;</a:t>
            </a:r>
          </a:p>
          <a:p>
            <a:r>
              <a:rPr lang="en-US" dirty="0"/>
              <a:t>&lt;audio&gt;</a:t>
            </a:r>
          </a:p>
          <a:p>
            <a:r>
              <a:rPr lang="en-US" dirty="0"/>
              <a:t>&lt;video&gt;</a:t>
            </a:r>
          </a:p>
          <a:p>
            <a:r>
              <a:rPr lang="en-US" dirty="0"/>
              <a:t>&lt;canvas&gt; -  graphical area used to draw with either 2D or 3D using </a:t>
            </a:r>
            <a:r>
              <a:rPr lang="en-US" dirty="0" err="1"/>
              <a:t>javascript</a:t>
            </a:r>
            <a:r>
              <a:rPr lang="en-US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097499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18978</TotalTime>
  <Words>1345</Words>
  <Application>Microsoft Office PowerPoint</Application>
  <PresentationFormat>Widescreen</PresentationFormat>
  <Paragraphs>184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Wingdings</vt:lpstr>
      <vt:lpstr>Office Theme</vt:lpstr>
      <vt:lpstr>Week 1 </vt:lpstr>
      <vt:lpstr>Agenda!</vt:lpstr>
      <vt:lpstr>Front-End Introduction</vt:lpstr>
      <vt:lpstr>Difference between Front-end and back-end</vt:lpstr>
      <vt:lpstr>Static &amp; Dynamic Websites</vt:lpstr>
      <vt:lpstr>Internet and World Wide Web (WWW)</vt:lpstr>
      <vt:lpstr>More clarity..</vt:lpstr>
      <vt:lpstr>Useful about web and internet!</vt:lpstr>
      <vt:lpstr>PowerPoint Presentation</vt:lpstr>
      <vt:lpstr>HTTP Requests and Responses!</vt:lpstr>
      <vt:lpstr>URL parts: (Uniform Resource Locator)(Universal Resource Locator)</vt:lpstr>
      <vt:lpstr>PowerPoint Presentation</vt:lpstr>
      <vt:lpstr>HTML</vt:lpstr>
      <vt:lpstr>HTML …</vt:lpstr>
      <vt:lpstr>Notes from lecture – January 12</vt:lpstr>
      <vt:lpstr>PowerPoint Presentation</vt:lpstr>
      <vt:lpstr>Metadata!</vt:lpstr>
      <vt:lpstr>Major document sections</vt:lpstr>
      <vt:lpstr>Content Sections – ALWAYS INSIDE &lt;body&gt; Semantic Elements</vt:lpstr>
      <vt:lpstr>Text content</vt:lpstr>
      <vt:lpstr>Inline Text:</vt:lpstr>
      <vt:lpstr>Multimedia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Noman Atique</dc:creator>
  <cp:lastModifiedBy>Noman Atique</cp:lastModifiedBy>
  <cp:revision>86</cp:revision>
  <dcterms:created xsi:type="dcterms:W3CDTF">2024-09-09T03:21:42Z</dcterms:created>
  <dcterms:modified xsi:type="dcterms:W3CDTF">2026-01-12T13:30:42Z</dcterms:modified>
</cp:coreProperties>
</file>